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6ae26016d444cb" /><Relationship Type="http://schemas.openxmlformats.org/officeDocument/2006/relationships/extended-properties" Target="/docProps/app.xml" Id="Re008c92b276a42ed" /><Relationship Type="http://schemas.openxmlformats.org/officeDocument/2006/relationships/officeDocument" Target="/ppt/presentation.xml" Id="Rc5a0ddd03bb947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40b85dff9e4ee9"/>
  </p:sldMasterIdLst>
  <p:notesMasterIdLst>
    <p:notesMasterId xmlns:r="http://schemas.openxmlformats.org/officeDocument/2006/relationships" r:id="R63e1715c6ad34686"/>
  </p:notesMasterIdLst>
  <p:sldIdLst>
    <p:sldId xmlns:r="http://schemas.openxmlformats.org/officeDocument/2006/relationships" id="256" r:id="Rbd2ea4b879f0444b"/>
    <p:sldId xmlns:r="http://schemas.openxmlformats.org/officeDocument/2006/relationships" id="257" r:id="R621996e189cb4646"/>
    <p:sldId xmlns:r="http://schemas.openxmlformats.org/officeDocument/2006/relationships" id="258" r:id="R575ed4eb9b504032"/>
    <p:sldId xmlns:r="http://schemas.openxmlformats.org/officeDocument/2006/relationships" id="259" r:id="R59e4ff4479f247cf"/>
    <p:sldId xmlns:r="http://schemas.openxmlformats.org/officeDocument/2006/relationships" id="260" r:id="R6917f82ddb874367"/>
    <p:sldId xmlns:r="http://schemas.openxmlformats.org/officeDocument/2006/relationships" id="261" r:id="Rdbb1eb8c7ffe49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4e3092371b4fa6" /><Relationship Type="http://schemas.openxmlformats.org/officeDocument/2006/relationships/slideMaster" Target="/ppt/slideMasters/slideMaster1.xml" Id="R8840b85dff9e4ee9" /><Relationship Type="http://schemas.openxmlformats.org/officeDocument/2006/relationships/notesMaster" Target="/ppt/notesMasters/notesMaster1.xml" Id="R63e1715c6ad34686" /><Relationship Type="http://schemas.openxmlformats.org/officeDocument/2006/relationships/presProps" Target="/ppt/presProps.xml" Id="Rb895d08e614e4f2c" /><Relationship Type="http://schemas.openxmlformats.org/officeDocument/2006/relationships/tableStyles" Target="/ppt/tableStyles.xml" Id="Rd34cdd6712ca4429" /><Relationship Type="http://schemas.openxmlformats.org/officeDocument/2006/relationships/slide" Target="/ppt/slides/slide1.xml" Id="Rbd2ea4b879f0444b" /><Relationship Type="http://schemas.openxmlformats.org/officeDocument/2006/relationships/slide" Target="/ppt/slides/slide2.xml" Id="R621996e189cb4646" /><Relationship Type="http://schemas.openxmlformats.org/officeDocument/2006/relationships/slide" Target="/ppt/slides/slide3.xml" Id="R575ed4eb9b504032" /><Relationship Type="http://schemas.openxmlformats.org/officeDocument/2006/relationships/slide" Target="/ppt/slides/slide4.xml" Id="R59e4ff4479f247cf" /><Relationship Type="http://schemas.openxmlformats.org/officeDocument/2006/relationships/slide" Target="/ppt/slides/slide5.xml" Id="R6917f82ddb874367" /><Relationship Type="http://schemas.openxmlformats.org/officeDocument/2006/relationships/slide" Target="/ppt/slides/slide6.xml" Id="Rdbb1eb8c7ffe49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0845da71834f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2cc4f5e76e4bf5" /><Relationship Type="http://schemas.openxmlformats.org/officeDocument/2006/relationships/notesMaster" Target="/ppt/notesMasters/notesMaster1.xml" Id="R3a6fdcf4156c4a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3ab387c4eb4507" /><Relationship Type="http://schemas.openxmlformats.org/officeDocument/2006/relationships/notesMaster" Target="/ppt/notesMasters/notesMaster1.xml" Id="Ra589e3e9702e45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d4407c21634060" /><Relationship Type="http://schemas.openxmlformats.org/officeDocument/2006/relationships/notesMaster" Target="/ppt/notesMasters/notesMaster1.xml" Id="R3f0cd725da704f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f745729388499c" /><Relationship Type="http://schemas.openxmlformats.org/officeDocument/2006/relationships/notesMaster" Target="/ppt/notesMasters/notesMaster1.xml" Id="R9e4bac0a70b644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94c7ad332f42a3" /><Relationship Type="http://schemas.openxmlformats.org/officeDocument/2006/relationships/notesMaster" Target="/ppt/notesMasters/notesMaster1.xml" Id="Rb94ae1b632624a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6f25b770634706" /><Relationship Type="http://schemas.openxmlformats.org/officeDocument/2006/relationships/notesMaster" Target="/ppt/notesMasters/notesMaster1.xml" Id="R881db6185d104b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ReadyRoute is an offline prototype for the emergency preparedness prompt. The illustrated image is generated concept art, not a real emergency scene. The app has a household plan, need-report form, and transparent response queue.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Ready.gov encourages household emergency plans. FEMA guidance calls for concise, understandable, accessible communication. These principles motivated the prototype. Sources: https://www.ready.gov/ ; https://www.fema.gov/sites/default/files/documents/fema_guide-community-engagement.pdf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three views are implemented in a single HTML file. A request can be carried manually to another device as a compact code with a typo check. The code contains a location and is not encrypted. There is no account, server, alert feed, automatic sync, or dispatch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Demonstration with fictional data: enter the Rivera household contact, meeting place, and backup transport in My plan. Save the plan locally, print it, or delete it. The interface has a text-size toggle and a partial Spanish option.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Pine Avenue example is fictional. It scores 30 for immediate urgency, 10 for medical need, and 6 for a power access barrier. The planner reserves available slots across the queue and uses a general team before a specialist when possible. It suggests the backup-power team here. The North library example scores 26. Waiting can add points, so live scores can change. This formula is illustrative, unvalidated, and never dispatches help automatically.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project has no measured real-world impact. Manual relay may help where devices cannot sync, but depends on trusted handoff and is not encrypted. A pilot should measure intake time, match coverage, relay success, and accessible completion. Real deployment needs official sources, secure synchronization, consent, multilingual and accessibility testing, and trained emergency-management partners. The concept relates to SDG 11 and SDG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7be6d5da8344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4bdd6ca50b4f41" /><Relationship Type="http://schemas.openxmlformats.org/officeDocument/2006/relationships/slideLayout" Target="/ppt/slideLayouts/slideLayout1.xml" Id="Re1be240931d640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be240931d640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3284526b74d7b" /><Relationship Type="http://schemas.openxmlformats.org/officeDocument/2006/relationships/image" Target="/ppt/media/image.jpeg" Id="Rbd8a414360de4394" /><Relationship Type="http://schemas.openxmlformats.org/officeDocument/2006/relationships/notesSlide" Target="/ppt/notesSlides/notesSlide1.xml" Id="R7cd67d67aa9447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e1902f1c146f7" /><Relationship Type="http://schemas.openxmlformats.org/officeDocument/2006/relationships/notesSlide" Target="/ppt/notesSlides/notesSlide2.xml" Id="Rf79758053e7f4b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e27cc47c04bc8" /><Relationship Type="http://schemas.openxmlformats.org/officeDocument/2006/relationships/notesSlide" Target="/ppt/notesSlides/notesSlide3.xml" Id="Rd585489bc3eb49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fd9271861448c" /><Relationship Type="http://schemas.openxmlformats.org/officeDocument/2006/relationships/notesSlide" Target="/ppt/notesSlides/notesSlide4.xml" Id="R7d8d0747559641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0380d529e4433" /><Relationship Type="http://schemas.openxmlformats.org/officeDocument/2006/relationships/notesSlide" Target="/ppt/notesSlides/notesSlide5.xml" Id="R84b4126ae4ca4b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09dd3d4eb416e" /><Relationship Type="http://schemas.openxmlformats.org/officeDocument/2006/relationships/notesSlide" Target="/ppt/notesSlides/notesSlide6.xml" Id="R056b2b24096449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F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a414360de439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B9E94-E7E8-4E49-BF00-5E210C13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C85C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1">
                <a:solidFill>
                  <a:srgbClr val="F5C85C"/>
                </a:solidFill>
                <a:latin typeface="Arial Narrow"/>
                <a:ea typeface="Arial Narrow"/>
                <a:cs typeface="Arial Narrow"/>
              </a:rPr>
              <a:t>READYROUTE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DC908-F47B-443A-B7F7-89D35295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68580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7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57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 clear plan before.</a:t>
            </a:r>
          </a:p>
          <a:p xmlns:a="http://schemas.openxmlformats.org/drawingml/2006/main">
            <a:pPr>
              <a:defRPr sz="457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57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 clearer picture during.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B5638-F60E-4240-942E-69EC6E7D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466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5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CD041-2C57-49BD-88B0-A3FAC4AC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38700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85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DD7B0-9240-47C5-AEBC-A5DFE9B1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38700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85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82EB0-909D-4DB0-91E0-7017A6C6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Emergency preparedness and transparent response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86948-42B7-4E32-9451-46445141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C85C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5C85C"/>
                </a:solidFill>
                <a:latin typeface="Arial Narrow"/>
                <a:ea typeface="Arial Narrow"/>
                <a:cs typeface="Arial Narrow"/>
              </a:rPr>
              <a:t>WORKING PROTOTYPE  ·  EDUCATIONAL SIMULATION</a:t>
            </a:r>
          </a:p>
        </p:txBody>
      </p:sp>
    </p:spTree>
    <p:extLst>
      <p:ext uri="{BB962C8B-B14F-4D97-AF65-F5344CB8AC3E}">
        <p14:creationId xmlns:p14="http://schemas.microsoft.com/office/powerpoint/2010/main" val="1879732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4B99FD-43D1-4A4D-AA2A-B2199C09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09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4BB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5264BB"/>
                </a:solidFill>
                <a:latin typeface="Arial Narrow"/>
                <a:ea typeface="Arial Narrow"/>
                <a:cs typeface="Arial Narrow"/>
              </a:rPr>
              <a:t>READYROUTE  /  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F5020-4ECC-46F8-965A-D1967558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32A39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32A39"/>
                </a:solidFill>
                <a:latin typeface="Georgia"/>
                <a:ea typeface="Georgia"/>
                <a:cs typeface="Georgia"/>
              </a:rPr>
              <a:t>A shared picture is hard to build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66FBB-FB06-48EB-A0FD-CA36E992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F9732-FE19-4F6B-A830-C4AACEDE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0325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77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775"/>
                </a:solidFill>
                <a:latin typeface="Arial"/>
                <a:ea typeface="Arial"/>
                <a:cs typeface="Arial"/>
              </a:rPr>
              <a:t>02 /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29846-C545-418A-8ACB-E464B76D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81200"/>
            <a:ext cx="1093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D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DBCA1-4BB8-49D4-9732-27022023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81200"/>
            <a:ext cx="857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8B5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1C578-3C16-48FD-ACB2-B07859EA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19450"/>
            <a:ext cx="1093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FA183-2DC2-4358-A945-7EDB418E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19450"/>
            <a:ext cx="857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4B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A84B9-5647-41EB-A0E5-8A2C84FB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1093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EE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1EA0B-3669-462B-997B-2FF874D1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857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6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56355C-2ACE-4764-A752-7BB34DDA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1049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EF8B58"/>
                </a:solidFill>
                <a:latin typeface="Courier New"/>
                <a:ea typeface="Courier New"/>
                <a:cs typeface="Courier New"/>
              </a:defRPr>
            </a:pPr>
            <a:r>
              <a:rPr sz="4350" b="0">
                <a:solidFill>
                  <a:srgbClr val="EF8B58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DB930-61D1-40BE-8FFA-CD5D774E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162175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2A3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32A39"/>
                </a:solidFill>
                <a:latin typeface="Arial"/>
                <a:ea typeface="Arial"/>
                <a:cs typeface="Arial"/>
              </a:rPr>
              <a:t>Households need a plan they can find quickly.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0CEFF-CA4A-4DEB-94A7-ED92F389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48000"/>
            <a:ext cx="852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B338F-B717-4101-BBEE-D50488F4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11049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5264BB"/>
                </a:solidFill>
                <a:latin typeface="Courier New"/>
                <a:ea typeface="Courier New"/>
                <a:cs typeface="Courier New"/>
              </a:defRPr>
            </a:pPr>
            <a:r>
              <a:rPr sz="4350" b="0">
                <a:solidFill>
                  <a:srgbClr val="5264BB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43098-567F-44AE-AE1F-2B637E82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371850"/>
            <a:ext cx="923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2A3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32A39"/>
                </a:solidFill>
                <a:latin typeface="Arial"/>
                <a:ea typeface="Arial"/>
                <a:cs typeface="Arial"/>
              </a:rPr>
              <a:t>Responders need requests that are clear and comparable.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0433FB-1D90-4AF7-9CB2-67251204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333875"/>
            <a:ext cx="852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85D3F-4C2A-4D3D-BB3A-B2776CC9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11049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006C69"/>
                </a:solidFill>
                <a:latin typeface="Courier New"/>
                <a:ea typeface="Courier New"/>
                <a:cs typeface="Courier New"/>
              </a:defRPr>
            </a:pPr>
            <a:r>
              <a:rPr sz="4350" b="0">
                <a:solidFill>
                  <a:srgbClr val="006C69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64E341-DEAE-4E80-B16E-7A2DC824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648200"/>
            <a:ext cx="895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2A3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32A39"/>
                </a:solidFill>
                <a:latin typeface="Arial"/>
                <a:ea typeface="Arial"/>
                <a:cs typeface="Arial"/>
              </a:rPr>
              <a:t>Access barriers must be visible during review.</a:t>
            </a:r>
          </a:p>
        </p:txBody>
      </p:sp>
    </p:spTree>
    <p:extLst>
      <p:ext uri="{BB962C8B-B14F-4D97-AF65-F5344CB8AC3E}">
        <p14:creationId xmlns:p14="http://schemas.microsoft.com/office/powerpoint/2010/main" val="4733189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F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30E3E3-9D06-43F9-8EA5-8D362981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09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C85C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5C85C"/>
                </a:solidFill>
                <a:latin typeface="Arial Narrow"/>
                <a:ea typeface="Arial Narrow"/>
                <a:cs typeface="Arial Narrow"/>
              </a:rPr>
              <a:t>READYROUTE  /  THE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5F1DE-D889-4E10-8462-65CCAE4B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One simple flow, three useful views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F5168-B016-4690-8E44-AE740956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47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C24C6-8974-4C5D-9186-CCDD90B5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0325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CE6D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CE6D9"/>
                </a:solidFill>
                <a:latin typeface="Arial"/>
                <a:ea typeface="Arial"/>
                <a:cs typeface="Arial"/>
              </a:rPr>
              <a:t>03 /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6F777-1ACD-46A3-92E7-89BA9A6B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362200"/>
            <a:ext cx="381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5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7318B-EDE1-4A6F-9FBF-A1FFE37B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66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8B5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098BD-BFE2-4644-8B34-09691C28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85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3063C-4DCA-41A5-BCF1-8058160E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6D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D7164-2FBE-4A14-AE4F-52755868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04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EF8B58"/>
                </a:solidFill>
                <a:latin typeface="Courier New"/>
                <a:ea typeface="Courier New"/>
                <a:cs typeface="Courier New"/>
              </a:defRPr>
            </a:pPr>
            <a:r>
              <a:rPr sz="4200" b="0">
                <a:solidFill>
                  <a:srgbClr val="EF8B58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36FBF-D719-4FF1-B3CE-3D98C8A6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09775"/>
            <a:ext cx="950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D5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48AD2-4D10-47E5-809B-A3FA3957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95500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Prepare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B775A-2AAC-45ED-9FE5-24B6E4BD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43125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7E6E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E6E4"/>
                </a:solidFill>
                <a:latin typeface="Arial"/>
                <a:ea typeface="Arial"/>
                <a:cs typeface="Arial"/>
              </a:rPr>
              <a:t>Save a contact, meeting place, backup route, and access needs.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C3AC8-BC20-417B-9490-E7D41B37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38475"/>
            <a:ext cx="9096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67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57838-9E4C-4C31-BFBC-D21F1E9D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104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F5C85C"/>
                </a:solidFill>
                <a:latin typeface="Courier New"/>
                <a:ea typeface="Courier New"/>
                <a:cs typeface="Courier New"/>
              </a:defRPr>
            </a:pPr>
            <a:r>
              <a:rPr sz="4200" b="0">
                <a:solidFill>
                  <a:srgbClr val="F5C85C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E9093-C1AF-47BA-BA77-E56BE957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05175"/>
            <a:ext cx="950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C6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47906-CF41-4DB8-90F7-496F5A52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390900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Report + relay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ABDD87-72E6-4760-8B05-D5F915DB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38525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7E6E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E6E4"/>
                </a:solidFill>
                <a:latin typeface="Arial"/>
                <a:ea typeface="Arial"/>
                <a:cs typeface="Arial"/>
              </a:rPr>
              <a:t>Create a report; carry a short code between devices.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32F72A-D1F1-49BC-904F-5AF96BA2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333875"/>
            <a:ext cx="9096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67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1228D2-9D06-4AA3-81F4-39A54882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4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BCE6D9"/>
                </a:solidFill>
                <a:latin typeface="Courier New"/>
                <a:ea typeface="Courier New"/>
                <a:cs typeface="Courier New"/>
              </a:defRPr>
            </a:pPr>
            <a:r>
              <a:rPr sz="4200" b="0">
                <a:solidFill>
                  <a:srgbClr val="BCE6D9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3EB38-80A4-462E-AC85-B928B3D8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600575"/>
            <a:ext cx="950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05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E9781F-2376-4085-8828-DE7484F9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686300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ED6BB-AE5C-4059-8277-1B90D76A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33925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7E6E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E6E4"/>
                </a:solidFill>
                <a:latin typeface="Arial"/>
                <a:ea typeface="Arial"/>
                <a:cs typeface="Arial"/>
              </a:rPr>
              <a:t>See explained priorities, reserved matches, and manual assignment.</a:t>
            </a:r>
          </a:p>
        </p:txBody>
      </p:sp>
    </p:spTree>
    <p:extLst>
      <p:ext uri="{BB962C8B-B14F-4D97-AF65-F5344CB8AC3E}">
        <p14:creationId xmlns:p14="http://schemas.microsoft.com/office/powerpoint/2010/main" val="15896628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4B735D-89BE-45DB-B364-1C2FF443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09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4BB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5264BB"/>
                </a:solidFill>
                <a:latin typeface="Arial Narrow"/>
                <a:ea typeface="Arial Narrow"/>
                <a:cs typeface="Arial Narrow"/>
              </a:rPr>
              <a:t>READYROUTE  / 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EE11C-9883-4069-8D1A-03EC9B83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32A39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32A39"/>
                </a:solidFill>
                <a:latin typeface="Georgia"/>
                <a:ea typeface="Georgia"/>
                <a:cs typeface="Georgia"/>
              </a:rPr>
              <a:t>A household makes a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37DE0-7183-41F0-8950-7DA52903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C8F0B-223A-4480-AE9C-5AD53C6E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0325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77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775"/>
                </a:solidFill>
                <a:latin typeface="Arial"/>
                <a:ea typeface="Arial"/>
                <a:cs typeface="Arial"/>
              </a:rPr>
              <a:t>04 /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45E14-E5B4-434D-83A1-7AE1D9DD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097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64BB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1">
                <a:solidFill>
                  <a:srgbClr val="5264BB"/>
                </a:solidFill>
                <a:latin typeface="Arial Narrow"/>
                <a:ea typeface="Arial Narrow"/>
                <a:cs typeface="Arial Narrow"/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DFF10-B0BA-4586-B21F-116DE57E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85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5AECA-88CA-4EF2-820B-5AD95590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050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5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A9048-AF87-4399-A7AB-B4CC0AE5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5334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32A39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132A39"/>
                </a:solidFill>
                <a:latin typeface="Georgia"/>
                <a:ea typeface="Georgia"/>
                <a:cs typeface="Georgia"/>
              </a:rPr>
              <a:t>Rivera household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51BCE-88D4-4CC8-BDC5-C88B7F49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520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657A6-3DB9-4865-A3F2-2F718A52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575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67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775"/>
                </a:solidFill>
                <a:latin typeface="Arial"/>
                <a:ea typeface="Arial"/>
                <a:cs typeface="Arial"/>
              </a:rPr>
              <a:t>Out-of-area contact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2F40A-0B8D-4785-8AFE-C5A9C528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52825"/>
            <a:ext cx="4476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32A3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32A39"/>
                </a:solidFill>
                <a:latin typeface="Arial"/>
                <a:ea typeface="Arial"/>
                <a:cs typeface="Arial"/>
              </a:rPr>
              <a:t>Elena · 555-0142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30B7B-7FEF-4BA7-A8BE-BD220443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767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67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775"/>
                </a:solidFill>
                <a:latin typeface="Arial"/>
                <a:ea typeface="Arial"/>
                <a:cs typeface="Arial"/>
              </a:rPr>
              <a:t>Meeting 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16165C-FE72-4914-BA48-5A0ECAA7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71975"/>
            <a:ext cx="4476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32A3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32A39"/>
                </a:solidFill>
                <a:latin typeface="Arial"/>
                <a:ea typeface="Arial"/>
                <a:cs typeface="Arial"/>
              </a:rPr>
              <a:t>North library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FE9FF-A8FB-423F-B8C9-0C0D1A74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9053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67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775"/>
                </a:solidFill>
                <a:latin typeface="Arial"/>
                <a:ea typeface="Arial"/>
                <a:cs typeface="Arial"/>
              </a:rPr>
              <a:t>Backup transport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9883E-89E7-447D-890A-C2BC9C6A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200650"/>
            <a:ext cx="4476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32A3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32A39"/>
                </a:solidFill>
                <a:latin typeface="Arial"/>
                <a:ea typeface="Arial"/>
                <a:cs typeface="Arial"/>
              </a:rPr>
              <a:t>Accessible van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E39CDC-05BC-4DF4-A18F-848ED032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47875"/>
            <a:ext cx="5305425" cy="3743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68FD7-545B-438E-866D-84D78DFE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00550"/>
            <a:ext cx="3848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0CB60B-637C-42E0-95AB-8787BFC2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305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4B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4362F5-3E2C-47E6-A64C-68875179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05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8B5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7CE6D6-4781-4AC1-8C41-9F98CA1A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05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C6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6734AA-0D33-4808-AFF0-F48FE1A1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47875"/>
            <a:ext cx="53054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547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0EE691-939A-4F03-9394-D365F098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71725"/>
            <a:ext cx="4381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D5478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1">
                <a:solidFill>
                  <a:srgbClr val="AD5478"/>
                </a:solidFill>
                <a:latin typeface="Arial Narrow"/>
                <a:ea typeface="Arial Narrow"/>
                <a:cs typeface="Arial Narrow"/>
              </a:rPr>
              <a:t>SAVED PLAN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4ED322-A783-4BC0-ABB8-70EBEDA8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95600"/>
            <a:ext cx="452437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091F31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091F31"/>
                </a:solidFill>
                <a:latin typeface="Georgia"/>
                <a:ea typeface="Georgia"/>
                <a:cs typeface="Georgia"/>
              </a:rPr>
              <a:t>One page to carry</a:t>
            </a:r>
          </a:p>
          <a:p xmlns:a="http://schemas.openxmlformats.org/drawingml/2006/main">
            <a:pPr>
              <a:defRPr sz="3225" b="0">
                <a:solidFill>
                  <a:srgbClr val="091F31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091F31"/>
                </a:solidFill>
                <a:latin typeface="Georgia"/>
                <a:ea typeface="Georgia"/>
                <a:cs typeface="Georgia"/>
              </a:rPr>
              <a:t>or share.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90F728-A188-4111-B695-BA410F08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72440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5"/>
                </a:solidFill>
                <a:latin typeface="Arial"/>
                <a:ea typeface="Arial"/>
                <a:cs typeface="Arial"/>
              </a:rPr>
              <a:t>Local storage  ·  Print  ·  Delete</a:t>
            </a:r>
          </a:p>
        </p:txBody>
      </p:sp>
    </p:spTree>
    <p:extLst>
      <p:ext uri="{BB962C8B-B14F-4D97-AF65-F5344CB8AC3E}">
        <p14:creationId xmlns:p14="http://schemas.microsoft.com/office/powerpoint/2010/main" val="7675703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295671-CAC2-491B-BF0B-1BD6815B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09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4BB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5264BB"/>
                </a:solidFill>
                <a:latin typeface="Arial Narrow"/>
                <a:ea typeface="Arial Narrow"/>
                <a:cs typeface="Arial Narrow"/>
              </a:rPr>
              <a:t>READYROUTE  / 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4BB25-8EB7-4C1F-AAAF-746C253E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32A39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32A39"/>
                </a:solidFill>
                <a:latin typeface="Georgia"/>
                <a:ea typeface="Georgia"/>
                <a:cs typeface="Georgia"/>
              </a:rPr>
              <a:t>The queue shows the reason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27FA1-4A70-41DB-B624-7F2CA791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CA125-10A0-4441-9901-0468783D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0325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77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775"/>
                </a:solidFill>
                <a:latin typeface="Arial"/>
                <a:ea typeface="Arial"/>
                <a:cs typeface="Arial"/>
              </a:rPr>
              <a:t>05 /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9B489-2974-4A75-8915-C3EFBBAA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57400"/>
            <a:ext cx="14573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D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02D26-242C-403B-B131-2A81427B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381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625" b="0">
                <a:solidFill>
                  <a:srgbClr val="EF8B58"/>
                </a:solidFill>
                <a:latin typeface="Courier New"/>
                <a:ea typeface="Courier New"/>
                <a:cs typeface="Courier New"/>
              </a:defRPr>
            </a:pPr>
            <a:r>
              <a:rPr sz="5625" b="0">
                <a:solidFill>
                  <a:srgbClr val="EF8B58"/>
                </a:solidFill>
                <a:latin typeface="Courier New"/>
                <a:ea typeface="Courier New"/>
                <a:cs typeface="Courier New"/>
              </a:rPr>
              <a:t>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05A8B-9406-4A18-945A-9A32D475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12407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32A3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2A39"/>
                </a:solidFill>
                <a:latin typeface="Arial"/>
                <a:ea typeface="Arial"/>
                <a:cs typeface="Arial"/>
              </a:rPr>
              <a:t>Pine Avenue apartments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E0010-A810-4A3A-9F07-3B75678B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686050"/>
            <a:ext cx="809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5"/>
                </a:solidFill>
                <a:latin typeface="Arial"/>
                <a:ea typeface="Arial"/>
                <a:cs typeface="Arial"/>
              </a:rPr>
              <a:t>Medical support  ·  Right 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4BCDB-3FA4-4AB8-87AF-6ED35A00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1623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6C6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6C69"/>
                </a:solidFill>
                <a:latin typeface="Arial"/>
                <a:ea typeface="Arial"/>
                <a:cs typeface="Arial"/>
              </a:rPr>
              <a:t>URGENCY  +30     ESSENTIAL NEED  +10     ACCESS BARRIER  +6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9D4EF-EC3D-499D-B52E-BCF44443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6385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6C6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6C69"/>
                </a:solidFill>
                <a:latin typeface="Arial"/>
                <a:ea typeface="Arial"/>
                <a:cs typeface="Arial"/>
              </a:rPr>
              <a:t>Reserved suggestion: medical backup-power team  ·  1 available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3571D1-30F6-42C6-BEA2-FB46BE08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048125"/>
            <a:ext cx="5048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8B5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43E444-EFD9-41DB-A5CA-2E6162B1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48125"/>
            <a:ext cx="1676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5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FC1E4-A6F1-404A-8C1E-82F7D9C7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048125"/>
            <a:ext cx="1009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547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CBD9C1-36DB-4707-B369-B4A08249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42851-1D6A-4C39-87EC-E8EDADD7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33875"/>
            <a:ext cx="14573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2523B-54D6-4EB8-9DE2-9F447B4A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1381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625" b="0">
                <a:solidFill>
                  <a:srgbClr val="5264BB"/>
                </a:solidFill>
                <a:latin typeface="Courier New"/>
                <a:ea typeface="Courier New"/>
                <a:cs typeface="Courier New"/>
              </a:defRPr>
            </a:pPr>
            <a:r>
              <a:rPr sz="5625" b="0">
                <a:solidFill>
                  <a:srgbClr val="5264BB"/>
                </a:solidFill>
                <a:latin typeface="Courier New"/>
                <a:ea typeface="Courier New"/>
                <a:cs typeface="Courier New"/>
              </a:rPr>
              <a:t>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4DB2C8-589C-448C-8456-CC47FE02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41960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32A3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2A39"/>
                </a:solidFill>
                <a:latin typeface="Arial"/>
                <a:ea typeface="Arial"/>
                <a:cs typeface="Arial"/>
              </a:rPr>
              <a:t>North library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663CF3-FDFD-4C3C-8B8D-9192EEBC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981575"/>
            <a:ext cx="809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5"/>
                </a:solidFill>
                <a:latin typeface="Arial"/>
                <a:ea typeface="Arial"/>
                <a:cs typeface="Arial"/>
              </a:rPr>
              <a:t>Water / food  ·  Within a few hours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6B7312-7931-4E87-BB36-204C43A2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4768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264B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4BB"/>
                </a:solidFill>
                <a:latin typeface="Arial"/>
                <a:ea typeface="Arial"/>
                <a:cs typeface="Arial"/>
              </a:rPr>
              <a:t>URGENCY  +20     COMMUNICATION BARRIER  +6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3587A2-981B-45A6-8844-D8F1BE27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953125"/>
            <a:ext cx="49053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4B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03E046-87EE-4A42-9362-C67CBA15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953125"/>
            <a:ext cx="14763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5478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211514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F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9F342B-2AE7-4D0B-812A-F9C7A707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09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C85C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5C85C"/>
                </a:solidFill>
                <a:latin typeface="Arial Narrow"/>
                <a:ea typeface="Arial Narrow"/>
                <a:cs typeface="Arial Narrow"/>
              </a:rPr>
              <a:t>READYROUTE  /  IMPACT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8F1BE-9369-4FA9-8833-0AD62340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 prototype with a clear path to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5DAF9-4338-4362-AEF4-6EAE298C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47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D36DE-F2A3-41D4-8D2E-972B2E5A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0325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CE6D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CE6D9"/>
                </a:solidFill>
                <a:latin typeface="Arial"/>
                <a:ea typeface="Arial"/>
                <a:cs typeface="Arial"/>
              </a:rPr>
              <a:t>06 /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E7A6A-17D1-4759-8F3E-F58BA59F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71675"/>
            <a:ext cx="3352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36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DCB96-09F4-44A3-BFE1-C8429BFF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050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85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8D0B1-D31B-4E58-8B25-0E9EC0A1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8597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77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Faster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8B920-52E6-43A7-969B-70822611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274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5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18D6B-8E80-41A5-9895-34FB0A3F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short form and relay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carry key facts.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FD9EAD-FD63-433A-8E4E-D0935090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971675"/>
            <a:ext cx="3352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4E5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899A1-B9FA-435A-B9D1-8B75B93F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050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D9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BC4AE-021D-4086-8703-678DA7FA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8597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77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Clearer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9ADF5-B26B-4C3E-AD75-67D940EC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714625"/>
            <a:ext cx="274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73AB9-F7FD-49A2-8C28-93551D9B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9146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 position has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visible reasons.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F84A2-961E-4E4C-A2F6-984E9299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971675"/>
            <a:ext cx="3352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3D6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8E9DAB-82C2-4553-B885-639323F9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050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8B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D04012-EE79-4E24-BEAD-30183778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08597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77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Fairer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894B2-D5A1-416F-9061-C918DAF9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14625"/>
            <a:ext cx="274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8B5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DF067F-747A-44AB-B73C-FAECC511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146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Reservations protect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scarce specialist support.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478D22-115C-420B-9DE6-197EFC69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37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12DA0C-CC14-4F6A-A175-3A42C196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real pilot would require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0FD9B9-BE6D-4CA1-BC4C-F680818D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3E4E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3E4E2"/>
                </a:solidFill>
                <a:latin typeface="Arial"/>
                <a:ea typeface="Arial"/>
                <a:cs typeface="Arial"/>
              </a:rPr>
              <a:t>official data · secure sync · consent · accessibility testing · emergency-management partners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C3722C-9938-4CBB-B227-5852FB95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245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CE6D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CE6D9"/>
                </a:solidFill>
                <a:latin typeface="Arial"/>
                <a:ea typeface="Arial"/>
                <a:cs typeface="Arial"/>
              </a:rPr>
              <a:t>Pilot measures: intake time · match coverage · accessible completion</a:t>
            </a:r>
          </a:p>
        </p:txBody>
      </p:sp>
    </p:spTree>
    <p:extLst>
      <p:ext uri="{BB962C8B-B14F-4D97-AF65-F5344CB8AC3E}">
        <p14:creationId xmlns:p14="http://schemas.microsoft.com/office/powerpoint/2010/main" val="8292119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2026-09-30T13:45:38.6650000Z</dcterms:created>
  <dcterms:modified xsi:type="dcterms:W3CDTF">2026-09-30T13:45:38.6650000Z</dcterms:modified>
</coreProperties>
</file>