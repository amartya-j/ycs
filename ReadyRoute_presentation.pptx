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f540d91a6164dfd" /><Relationship Type="http://schemas.openxmlformats.org/officeDocument/2006/relationships/extended-properties" Target="/docProps/app.xml" Id="R3af4e8a09b6c48df" /><Relationship Type="http://schemas.openxmlformats.org/officeDocument/2006/relationships/officeDocument" Target="/ppt/presentation.xml" Id="Re13a73eece474b90" /></Relationships>
</file>

<file path=ppt/presentation.xml><?xml version="1.0" encoding="utf-8"?>
<p:presentation xmlns:p="http://schemas.openxmlformats.org/presentationml/2006/main">
  <p:sldMasterIdLst>
    <p:sldMasterId xmlns:r="http://schemas.openxmlformats.org/officeDocument/2006/relationships" id="2147483648" r:id="R69f5bef061504668"/>
  </p:sldMasterIdLst>
  <p:notesMasterIdLst>
    <p:notesMasterId xmlns:r="http://schemas.openxmlformats.org/officeDocument/2006/relationships" r:id="R5aa20784d12a4fb1"/>
  </p:notesMasterIdLst>
  <p:sldIdLst>
    <p:sldId xmlns:r="http://schemas.openxmlformats.org/officeDocument/2006/relationships" id="256" r:id="Rbfd5a2bf180c4002"/>
    <p:sldId xmlns:r="http://schemas.openxmlformats.org/officeDocument/2006/relationships" id="257" r:id="R2005116df4424ffa"/>
    <p:sldId xmlns:r="http://schemas.openxmlformats.org/officeDocument/2006/relationships" id="258" r:id="Rc9966abfb16f489d"/>
    <p:sldId xmlns:r="http://schemas.openxmlformats.org/officeDocument/2006/relationships" id="259" r:id="R86f990597fc14dd7"/>
    <p:sldId xmlns:r="http://schemas.openxmlformats.org/officeDocument/2006/relationships" id="260" r:id="R556eda9c365c4ad8"/>
    <p:sldId xmlns:r="http://schemas.openxmlformats.org/officeDocument/2006/relationships" id="261" r:id="R43583c1742944e7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ad4cb3d51d427a" /><Relationship Type="http://schemas.openxmlformats.org/officeDocument/2006/relationships/slideMaster" Target="/ppt/slideMasters/slideMaster1.xml" Id="R69f5bef061504668" /><Relationship Type="http://schemas.openxmlformats.org/officeDocument/2006/relationships/notesMaster" Target="/ppt/notesMasters/notesMaster1.xml" Id="R5aa20784d12a4fb1" /><Relationship Type="http://schemas.openxmlformats.org/officeDocument/2006/relationships/presProps" Target="/ppt/presProps.xml" Id="R53c438b75cc64a92" /><Relationship Type="http://schemas.openxmlformats.org/officeDocument/2006/relationships/tableStyles" Target="/ppt/tableStyles.xml" Id="R69a1d65e297c4f1e" /><Relationship Type="http://schemas.openxmlformats.org/officeDocument/2006/relationships/slide" Target="/ppt/slides/slide1.xml" Id="Rbfd5a2bf180c4002" /><Relationship Type="http://schemas.openxmlformats.org/officeDocument/2006/relationships/slide" Target="/ppt/slides/slide2.xml" Id="R2005116df4424ffa" /><Relationship Type="http://schemas.openxmlformats.org/officeDocument/2006/relationships/slide" Target="/ppt/slides/slide3.xml" Id="Rc9966abfb16f489d" /><Relationship Type="http://schemas.openxmlformats.org/officeDocument/2006/relationships/slide" Target="/ppt/slides/slide4.xml" Id="R86f990597fc14dd7" /><Relationship Type="http://schemas.openxmlformats.org/officeDocument/2006/relationships/slide" Target="/ppt/slides/slide5.xml" Id="R556eda9c365c4ad8" /><Relationship Type="http://schemas.openxmlformats.org/officeDocument/2006/relationships/slide" Target="/ppt/slides/slide6.xml" Id="R43583c1742944e7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4a7bed6fe7d4f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b12d46045048ec" /><Relationship Type="http://schemas.openxmlformats.org/officeDocument/2006/relationships/notesMaster" Target="/ppt/notesMasters/notesMaster1.xml" Id="Raffcbd88ef1b4bec"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602cf026f84a40" /><Relationship Type="http://schemas.openxmlformats.org/officeDocument/2006/relationships/notesMaster" Target="/ppt/notesMasters/notesMaster1.xml" Id="R6aa6228f536f41f8" /></Relationships>
</file>

<file path=ppt/notesSlides/_rels/notesSlide3.xml.rels>&#65279;<?xml version="1.0" encoding="utf-8"?><Relationships xmlns="http://schemas.openxmlformats.org/package/2006/relationships"><Relationship Type="http://schemas.openxmlformats.org/officeDocument/2006/relationships/slide" Target="/ppt/slides/slide3.xml" Id="R4c1df6f0040b4de0" /><Relationship Type="http://schemas.openxmlformats.org/officeDocument/2006/relationships/notesMaster" Target="/ppt/notesMasters/notesMaster1.xml" Id="R84fc0650ad23453f" /></Relationships>
</file>

<file path=ppt/notesSlides/_rels/notesSlide4.xml.rels>&#65279;<?xml version="1.0" encoding="utf-8"?><Relationships xmlns="http://schemas.openxmlformats.org/package/2006/relationships"><Relationship Type="http://schemas.openxmlformats.org/officeDocument/2006/relationships/slide" Target="/ppt/slides/slide4.xml" Id="R40b7a35b56c3412e" /><Relationship Type="http://schemas.openxmlformats.org/officeDocument/2006/relationships/notesMaster" Target="/ppt/notesMasters/notesMaster1.xml" Id="Rbd41b44b1c2d44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2ad65f1d16d84aab" /><Relationship Type="http://schemas.openxmlformats.org/officeDocument/2006/relationships/notesMaster" Target="/ppt/notesMasters/notesMaster1.xml" Id="R2d95cc391de746cc" /></Relationships>
</file>

<file path=ppt/notesSlides/_rels/notesSlide6.xml.rels>&#65279;<?xml version="1.0" encoding="utf-8"?><Relationships xmlns="http://schemas.openxmlformats.org/package/2006/relationships"><Relationship Type="http://schemas.openxmlformats.org/officeDocument/2006/relationships/slide" Target="/ppt/slides/slide6.xml" Id="Re95496a7e72c4187" /><Relationship Type="http://schemas.openxmlformats.org/officeDocument/2006/relationships/notesMaster" Target="/ppt/notesMasters/notesMaster1.xml" Id="Rb0fced308997411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ReadyRoute is an offline prototype for the emergency preparedness prompt. The illustrated image is generated concept art, not a real emergency scene. The app has a household plan, need-report form, and transparent response queue.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Ready.gov encourages household emergency plans. FEMA guidance calls for concise, understandable, accessible communication. These principles motivated the prototype. Sources: https://www.ready.gov/ ; https://www.fema.gov/sites/default/files/documents/fema_guide-community-engagement.pdf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three views are implemented in a single HTML file. In this educational demo, plan and request data remain in browser local storage. There is no account, server, alert feed, or dispatch integration.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Demonstration with fictional data: enter the Rivera household contact, meeting place, and backup transport in My plan. Save the plan locally, print it, or delete it. The interface has a text-size toggle and a partial Spanish option.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Pine Avenue example is a fictional request. It is scored 30 for immediate urgency, 10 for medical need, and 6 for a power-related access barrier. The resource matcher checks category, access needs, and remaining capacity; the suggested medical backup-power team has one available slot. The North library example scores 26. Waiting time can add points, so scores in the live app may change. This formula is illustrative, unvalidated, and never dispatches help automatically.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project has no measured real-world impact. It could help speed intake, make prioritization clearer, and surface barriers. A pilot should measure intake time, resource match coverage, and accessible completion. Real deployment needs official sources, secure synchronization, consent, multilingual and accessibility testing, and trained emergency-management partners. The concept relates to SDG 11 and SDG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9d694c89e2407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d20a6e8bc5243b7" /><Relationship Type="http://schemas.openxmlformats.org/officeDocument/2006/relationships/slideLayout" Target="/ppt/slideLayouts/slideLayout1.xml" Id="R8acd2777953040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acd2777953040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07bc5c0e3384530" /><Relationship Type="http://schemas.openxmlformats.org/officeDocument/2006/relationships/image" Target="/ppt/media/image.jpeg" Id="Re55ed1582ede495b" /><Relationship Type="http://schemas.openxmlformats.org/officeDocument/2006/relationships/notesSlide" Target="/ppt/notesSlides/notesSlide1.xml" Id="Raf152051a7d94f7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aefb755683b4a6d" /><Relationship Type="http://schemas.openxmlformats.org/officeDocument/2006/relationships/notesSlide" Target="/ppt/notesSlides/notesSlide2.xml" Id="R8d1f8b349f474c5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8ff000aa0474e58" /><Relationship Type="http://schemas.openxmlformats.org/officeDocument/2006/relationships/notesSlide" Target="/ppt/notesSlides/notesSlide3.xml" Id="R5b508533da89476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bb47852b77442ec" /><Relationship Type="http://schemas.openxmlformats.org/officeDocument/2006/relationships/notesSlide" Target="/ppt/notesSlides/notesSlide4.xml" Id="Ra0d111d67130472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214d174128f4743" /><Relationship Type="http://schemas.openxmlformats.org/officeDocument/2006/relationships/notesSlide" Target="/ppt/notesSlides/notesSlide5.xml" Id="R29900397998f479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ab3fecc4a3b4aef" /><Relationship Type="http://schemas.openxmlformats.org/officeDocument/2006/relationships/notesSlide" Target="/ppt/notesSlides/notesSlide6.xml" Id="R0d2c9911c1e044c8" /></Relationships>
</file>

<file path=ppt/slides/slide1.xml><?xml version="1.0" encoding="utf-8"?>
<p:sld xmlns:p="http://schemas.openxmlformats.org/presentationml/2006/main">
  <p:cSld>
    <p:bg>
      <p:bgPr>
        <a:solidFill xmlns:a="http://schemas.openxmlformats.org/drawingml/2006/main">
          <a:srgbClr val="091F3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e55ed1582ede495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F165886-CC7D-4472-B585-B45D06B39EB7}"/>
              </a:ext>
            </a:extLst>
          </p:cNvPr>
          <p:cNvSpPr>
            <a:spLocks xmlns:a="http://schemas.openxmlformats.org/drawingml/2006/main" noGrp="1"/>
          </p:cNvSpPr>
          <p:nvPr/>
        </p:nvSpPr>
        <p:spPr>
          <a:xfrm xmlns:a="http://schemas.openxmlformats.org/drawingml/2006/main">
            <a:off x="666750" y="4572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1">
                <a:solidFill>
                  <a:srgbClr val="BCE6D9"/>
                </a:solidFill>
                <a:latin typeface="Arial"/>
                <a:ea typeface="Arial"/>
                <a:cs typeface="Arial"/>
              </a:defRPr>
            </a:pPr>
            <a:r>
              <a:rPr sz="1425" b="1">
                <a:solidFill>
                  <a:srgbClr val="BCE6D9"/>
                </a:solidFill>
                <a:latin typeface="Arial"/>
                <a:ea typeface="Arial"/>
                <a:cs typeface="Arial"/>
              </a:rPr>
              <a:t>READYROUTE</a:t>
            </a:r>
          </a:p>
        </p:txBody>
      </p:sp>
      <p:sp>
        <p:nvSpPr>
          <p:cNvPr id="3" name="">
            <a:extLst xmlns:a="http://schemas.openxmlformats.org/drawingml/2006/main">
              <a:ext uri="{FF2B5EF4-FFF2-40B4-BE49-F238E27FC236}">
                <a16:creationId xmlns:a16="http://schemas.microsoft.com/office/drawing/2014/main" id="{8442A125-49D0-4E52-8023-DA8603B39017}"/>
              </a:ext>
            </a:extLst>
          </p:cNvPr>
          <p:cNvSpPr>
            <a:spLocks xmlns:a="http://schemas.openxmlformats.org/drawingml/2006/main" noGrp="1"/>
          </p:cNvSpPr>
          <p:nvPr/>
        </p:nvSpPr>
        <p:spPr>
          <a:xfrm xmlns:a="http://schemas.openxmlformats.org/drawingml/2006/main">
            <a:off x="666750" y="2095500"/>
            <a:ext cx="6858000" cy="2228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4575" b="0">
                <a:solidFill>
                  <a:srgbClr val="FFFFFF"/>
                </a:solidFill>
                <a:latin typeface="Georgia"/>
                <a:ea typeface="Georgia"/>
                <a:cs typeface="Georgia"/>
              </a:defRPr>
            </a:pPr>
            <a:r>
              <a:rPr sz="4575" b="0">
                <a:solidFill>
                  <a:srgbClr val="FFFFFF"/>
                </a:solidFill>
                <a:latin typeface="Georgia"/>
                <a:ea typeface="Georgia"/>
                <a:cs typeface="Georgia"/>
              </a:rPr>
              <a:t>A clear plan before.</a:t>
            </a:r>
          </a:p>
          <a:p xmlns:a="http://schemas.openxmlformats.org/drawingml/2006/main">
            <a:pPr>
              <a:defRPr sz="4575" b="0">
                <a:solidFill>
                  <a:srgbClr val="FFFFFF"/>
                </a:solidFill>
                <a:latin typeface="Georgia"/>
                <a:ea typeface="Georgia"/>
                <a:cs typeface="Georgia"/>
              </a:defRPr>
            </a:pPr>
            <a:r>
              <a:rPr sz="4575" b="0">
                <a:solidFill>
                  <a:srgbClr val="FFFFFF"/>
                </a:solidFill>
                <a:latin typeface="Georgia"/>
                <a:ea typeface="Georgia"/>
                <a:cs typeface="Georgia"/>
              </a:rPr>
              <a:t>A clearer picture during.</a:t>
            </a:r>
          </a:p>
        </p:txBody>
      </p:sp>
      <p:sp>
        <p:nvSpPr>
          <p:cNvPr id="4" name="">
            <a:extLst xmlns:a="http://schemas.openxmlformats.org/drawingml/2006/main">
              <a:ext uri="{FF2B5EF4-FFF2-40B4-BE49-F238E27FC236}">
                <a16:creationId xmlns:a16="http://schemas.microsoft.com/office/drawing/2014/main" id="{372FAAFC-8C9C-4D05-82DA-C4A7C4B69540}"/>
              </a:ext>
            </a:extLst>
          </p:cNvPr>
          <p:cNvSpPr>
            <a:spLocks xmlns:a="http://schemas.openxmlformats.org/drawingml/2006/main" noGrp="1"/>
          </p:cNvSpPr>
          <p:nvPr/>
        </p:nvSpPr>
        <p:spPr>
          <a:xfrm xmlns:a="http://schemas.openxmlformats.org/drawingml/2006/main">
            <a:off x="666750" y="4905375"/>
            <a:ext cx="4667250" cy="38100"/>
          </a:xfrm>
          <a:prstGeom xmlns:a="http://schemas.openxmlformats.org/drawingml/2006/main" prst="rect">
            <a:avLst/>
          </a:prstGeom>
          <a:solidFill xmlns:a="http://schemas.openxmlformats.org/drawingml/2006/main">
            <a:srgbClr val="EF8B5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54E695-6886-4B2B-8413-F7CD145E10EF}"/>
              </a:ext>
            </a:extLst>
          </p:cNvPr>
          <p:cNvSpPr>
            <a:spLocks xmlns:a="http://schemas.openxmlformats.org/drawingml/2006/main" noGrp="1"/>
          </p:cNvSpPr>
          <p:nvPr/>
        </p:nvSpPr>
        <p:spPr>
          <a:xfrm xmlns:a="http://schemas.openxmlformats.org/drawingml/2006/main">
            <a:off x="666750" y="5095875"/>
            <a:ext cx="619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Emergency preparedness and transparent response</a:t>
            </a:r>
          </a:p>
        </p:txBody>
      </p:sp>
      <p:sp>
        <p:nvSpPr>
          <p:cNvPr id="6" name="">
            <a:extLst xmlns:a="http://schemas.openxmlformats.org/drawingml/2006/main">
              <a:ext uri="{FF2B5EF4-FFF2-40B4-BE49-F238E27FC236}">
                <a16:creationId xmlns:a16="http://schemas.microsoft.com/office/drawing/2014/main" id="{C6616F35-03B7-4A05-975C-DEC020F20AE2}"/>
              </a:ext>
            </a:extLst>
          </p:cNvPr>
          <p:cNvSpPr>
            <a:spLocks xmlns:a="http://schemas.openxmlformats.org/drawingml/2006/main" noGrp="1"/>
          </p:cNvSpPr>
          <p:nvPr/>
        </p:nvSpPr>
        <p:spPr>
          <a:xfrm xmlns:a="http://schemas.openxmlformats.org/drawingml/2006/main">
            <a:off x="666750" y="6257925"/>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00" b="1">
                <a:solidFill>
                  <a:srgbClr val="BCE6D9"/>
                </a:solidFill>
                <a:latin typeface="Arial"/>
                <a:ea typeface="Arial"/>
                <a:cs typeface="Arial"/>
              </a:defRPr>
            </a:pPr>
            <a:r>
              <a:rPr sz="1200" b="1">
                <a:solidFill>
                  <a:srgbClr val="BCE6D9"/>
                </a:solidFill>
                <a:latin typeface="Arial"/>
                <a:ea typeface="Arial"/>
                <a:cs typeface="Arial"/>
              </a:rPr>
              <a:t>WORKING PROTOTYPE  ·  EDUCATIONAL SIMULATION</a:t>
            </a:r>
          </a:p>
        </p:txBody>
      </p:sp>
    </p:spTree>
    <p:extLst>
      <p:ext uri="{BB962C8B-B14F-4D97-AF65-F5344CB8AC3E}">
        <p14:creationId xmlns:p14="http://schemas.microsoft.com/office/powerpoint/2010/main" val="1492687315"/>
      </p:ext>
    </p:extLst>
  </p:cSld>
</p:sld>
</file>

<file path=ppt/slides/slide2.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793A6F4-CB30-4963-BB59-8C158B2A3DEB}"/>
              </a:ext>
            </a:extLst>
          </p:cNvPr>
          <p:cNvSpPr>
            <a:spLocks xmlns:a="http://schemas.openxmlformats.org/drawingml/2006/main" noGrp="1"/>
          </p:cNvSpPr>
          <p:nvPr/>
        </p:nvSpPr>
        <p:spPr>
          <a:xfrm xmlns:a="http://schemas.openxmlformats.org/drawingml/2006/main">
            <a:off x="628650" y="400050"/>
            <a:ext cx="10096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00" b="1">
                <a:solidFill>
                  <a:srgbClr val="006C69"/>
                </a:solidFill>
                <a:latin typeface="Arial"/>
                <a:ea typeface="Arial"/>
                <a:cs typeface="Arial"/>
              </a:defRPr>
            </a:pPr>
            <a:r>
              <a:rPr sz="1200" b="1">
                <a:solidFill>
                  <a:srgbClr val="006C69"/>
                </a:solidFill>
                <a:latin typeface="Arial"/>
                <a:ea typeface="Arial"/>
                <a:cs typeface="Arial"/>
              </a:rPr>
              <a:t>READYROUTE  /  THE PROBLEM</a:t>
            </a:r>
          </a:p>
        </p:txBody>
      </p:sp>
      <p:sp>
        <p:nvSpPr>
          <p:cNvPr id="2" name="">
            <a:extLst xmlns:a="http://schemas.openxmlformats.org/drawingml/2006/main">
              <a:ext uri="{FF2B5EF4-FFF2-40B4-BE49-F238E27FC236}">
                <a16:creationId xmlns:a16="http://schemas.microsoft.com/office/drawing/2014/main" id="{77469C2F-9BC3-4218-933B-1A3004710D37}"/>
              </a:ext>
            </a:extLst>
          </p:cNvPr>
          <p:cNvSpPr>
            <a:spLocks xmlns:a="http://schemas.openxmlformats.org/drawingml/2006/main" noGrp="1"/>
          </p:cNvSpPr>
          <p:nvPr/>
        </p:nvSpPr>
        <p:spPr>
          <a:xfrm xmlns:a="http://schemas.openxmlformats.org/drawingml/2006/main">
            <a:off x="628650" y="904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600" b="0">
                <a:solidFill>
                  <a:srgbClr val="132A39"/>
                </a:solidFill>
                <a:latin typeface="Georgia"/>
                <a:ea typeface="Georgia"/>
                <a:cs typeface="Georgia"/>
              </a:defRPr>
            </a:pPr>
            <a:r>
              <a:rPr sz="3600" b="0">
                <a:solidFill>
                  <a:srgbClr val="132A39"/>
                </a:solidFill>
                <a:latin typeface="Georgia"/>
                <a:ea typeface="Georgia"/>
                <a:cs typeface="Georgia"/>
              </a:rPr>
              <a:t>A shared picture is hard to build</a:t>
            </a:r>
          </a:p>
        </p:txBody>
      </p:sp>
      <p:sp>
        <p:nvSpPr>
          <p:cNvPr id="3" name="">
            <a:extLst xmlns:a="http://schemas.openxmlformats.org/drawingml/2006/main">
              <a:ext uri="{FF2B5EF4-FFF2-40B4-BE49-F238E27FC236}">
                <a16:creationId xmlns:a16="http://schemas.microsoft.com/office/drawing/2014/main" id="{E8DC0AE3-9B76-4182-B74D-234148D1F67E}"/>
              </a:ext>
            </a:extLst>
          </p:cNvPr>
          <p:cNvSpPr>
            <a:spLocks xmlns:a="http://schemas.openxmlformats.org/drawingml/2006/main" noGrp="1"/>
          </p:cNvSpPr>
          <p:nvPr/>
        </p:nvSpPr>
        <p:spPr>
          <a:xfrm xmlns:a="http://schemas.openxmlformats.org/drawingml/2006/main">
            <a:off x="628650" y="6334125"/>
            <a:ext cx="10934700" cy="19050"/>
          </a:xfrm>
          <a:prstGeom xmlns:a="http://schemas.openxmlformats.org/drawingml/2006/main" prst="rect">
            <a:avLst/>
          </a:prstGeom>
          <a:solidFill xmlns:a="http://schemas.openxmlformats.org/drawingml/2006/main">
            <a:srgbClr val="CAD6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B1E1F1F-7909-4124-BD2B-E2A566501272}"/>
              </a:ext>
            </a:extLst>
          </p:cNvPr>
          <p:cNvSpPr>
            <a:spLocks xmlns:a="http://schemas.openxmlformats.org/drawingml/2006/main" noGrp="1"/>
          </p:cNvSpPr>
          <p:nvPr/>
        </p:nvSpPr>
        <p:spPr>
          <a:xfrm xmlns:a="http://schemas.openxmlformats.org/drawingml/2006/main">
            <a:off x="10477500" y="6410325"/>
            <a:ext cx="1095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125" b="1">
                <a:solidFill>
                  <a:srgbClr val="526775"/>
                </a:solidFill>
                <a:latin typeface="Arial"/>
                <a:ea typeface="Arial"/>
                <a:cs typeface="Arial"/>
              </a:defRPr>
            </a:pPr>
            <a:r>
              <a:rPr sz="1125" b="1">
                <a:solidFill>
                  <a:srgbClr val="526775"/>
                </a:solidFill>
                <a:latin typeface="Arial"/>
                <a:ea typeface="Arial"/>
                <a:cs typeface="Arial"/>
              </a:rPr>
              <a:t>02 / 06</a:t>
            </a:r>
          </a:p>
        </p:txBody>
      </p:sp>
      <p:sp>
        <p:nvSpPr>
          <p:cNvPr id="5" name="">
            <a:extLst xmlns:a="http://schemas.openxmlformats.org/drawingml/2006/main">
              <a:ext uri="{FF2B5EF4-FFF2-40B4-BE49-F238E27FC236}">
                <a16:creationId xmlns:a16="http://schemas.microsoft.com/office/drawing/2014/main" id="{18C11C23-AD61-43B1-9904-52F732A6C065}"/>
              </a:ext>
            </a:extLst>
          </p:cNvPr>
          <p:cNvSpPr>
            <a:spLocks xmlns:a="http://schemas.openxmlformats.org/drawingml/2006/main" noGrp="1"/>
          </p:cNvSpPr>
          <p:nvPr/>
        </p:nvSpPr>
        <p:spPr>
          <a:xfrm xmlns:a="http://schemas.openxmlformats.org/drawingml/2006/main">
            <a:off x="647700" y="2076450"/>
            <a:ext cx="1333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5550" b="0">
                <a:solidFill>
                  <a:srgbClr val="EF8B58"/>
                </a:solidFill>
                <a:latin typeface="Georgia"/>
                <a:ea typeface="Georgia"/>
                <a:cs typeface="Georgia"/>
              </a:defRPr>
            </a:pPr>
            <a:r>
              <a:rPr sz="5550" b="0">
                <a:solidFill>
                  <a:srgbClr val="EF8B58"/>
                </a:solidFill>
                <a:latin typeface="Georgia"/>
                <a:ea typeface="Georgia"/>
                <a:cs typeface="Georgia"/>
              </a:rPr>
              <a:t>01</a:t>
            </a:r>
          </a:p>
        </p:txBody>
      </p:sp>
      <p:sp>
        <p:nvSpPr>
          <p:cNvPr id="6" name="">
            <a:extLst xmlns:a="http://schemas.openxmlformats.org/drawingml/2006/main">
              <a:ext uri="{FF2B5EF4-FFF2-40B4-BE49-F238E27FC236}">
                <a16:creationId xmlns:a16="http://schemas.microsoft.com/office/drawing/2014/main" id="{EA9CD360-EA13-475A-9152-1B291868ECF9}"/>
              </a:ext>
            </a:extLst>
          </p:cNvPr>
          <p:cNvSpPr>
            <a:spLocks xmlns:a="http://schemas.openxmlformats.org/drawingml/2006/main" noGrp="1"/>
          </p:cNvSpPr>
          <p:nvPr/>
        </p:nvSpPr>
        <p:spPr>
          <a:xfrm xmlns:a="http://schemas.openxmlformats.org/drawingml/2006/main">
            <a:off x="1981200" y="2162175"/>
            <a:ext cx="8667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325" b="1">
                <a:solidFill>
                  <a:srgbClr val="132A39"/>
                </a:solidFill>
                <a:latin typeface="Arial"/>
                <a:ea typeface="Arial"/>
                <a:cs typeface="Arial"/>
              </a:defRPr>
            </a:pPr>
            <a:r>
              <a:rPr sz="2325" b="1">
                <a:solidFill>
                  <a:srgbClr val="132A39"/>
                </a:solidFill>
                <a:latin typeface="Arial"/>
                <a:ea typeface="Arial"/>
                <a:cs typeface="Arial"/>
              </a:rPr>
              <a:t>Households need a plan they can find quickly.</a:t>
            </a:r>
          </a:p>
        </p:txBody>
      </p:sp>
      <p:sp>
        <p:nvSpPr>
          <p:cNvPr id="7" name="">
            <a:extLst xmlns:a="http://schemas.openxmlformats.org/drawingml/2006/main">
              <a:ext uri="{FF2B5EF4-FFF2-40B4-BE49-F238E27FC236}">
                <a16:creationId xmlns:a16="http://schemas.microsoft.com/office/drawing/2014/main" id="{F5E73173-D14A-4F78-842A-BF475B12AF46}"/>
              </a:ext>
            </a:extLst>
          </p:cNvPr>
          <p:cNvSpPr>
            <a:spLocks xmlns:a="http://schemas.openxmlformats.org/drawingml/2006/main" noGrp="1"/>
          </p:cNvSpPr>
          <p:nvPr/>
        </p:nvSpPr>
        <p:spPr>
          <a:xfrm xmlns:a="http://schemas.openxmlformats.org/drawingml/2006/main">
            <a:off x="1981200" y="3048000"/>
            <a:ext cx="8524875" cy="19050"/>
          </a:xfrm>
          <a:prstGeom xmlns:a="http://schemas.openxmlformats.org/drawingml/2006/main" prst="rect">
            <a:avLst/>
          </a:prstGeom>
          <a:solidFill xmlns:a="http://schemas.openxmlformats.org/drawingml/2006/main">
            <a:srgbClr val="CAD6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EB35368-B678-43F9-9413-D5992916B6A1}"/>
              </a:ext>
            </a:extLst>
          </p:cNvPr>
          <p:cNvSpPr>
            <a:spLocks xmlns:a="http://schemas.openxmlformats.org/drawingml/2006/main" noGrp="1"/>
          </p:cNvSpPr>
          <p:nvPr/>
        </p:nvSpPr>
        <p:spPr>
          <a:xfrm xmlns:a="http://schemas.openxmlformats.org/drawingml/2006/main">
            <a:off x="647700" y="3314700"/>
            <a:ext cx="1333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5550" b="0">
                <a:solidFill>
                  <a:srgbClr val="EF8B58"/>
                </a:solidFill>
                <a:latin typeface="Georgia"/>
                <a:ea typeface="Georgia"/>
                <a:cs typeface="Georgia"/>
              </a:defRPr>
            </a:pPr>
            <a:r>
              <a:rPr sz="5550" b="0">
                <a:solidFill>
                  <a:srgbClr val="EF8B58"/>
                </a:solidFill>
                <a:latin typeface="Georgia"/>
                <a:ea typeface="Georgia"/>
                <a:cs typeface="Georgia"/>
              </a:rPr>
              <a:t>02</a:t>
            </a:r>
          </a:p>
        </p:txBody>
      </p:sp>
      <p:sp>
        <p:nvSpPr>
          <p:cNvPr id="9" name="">
            <a:extLst xmlns:a="http://schemas.openxmlformats.org/drawingml/2006/main">
              <a:ext uri="{FF2B5EF4-FFF2-40B4-BE49-F238E27FC236}">
                <a16:creationId xmlns:a16="http://schemas.microsoft.com/office/drawing/2014/main" id="{68ED2CE4-419E-488F-B42D-1F72B6EA666B}"/>
              </a:ext>
            </a:extLst>
          </p:cNvPr>
          <p:cNvSpPr>
            <a:spLocks xmlns:a="http://schemas.openxmlformats.org/drawingml/2006/main" noGrp="1"/>
          </p:cNvSpPr>
          <p:nvPr/>
        </p:nvSpPr>
        <p:spPr>
          <a:xfrm xmlns:a="http://schemas.openxmlformats.org/drawingml/2006/main">
            <a:off x="1981200" y="3371850"/>
            <a:ext cx="9239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325" b="1">
                <a:solidFill>
                  <a:srgbClr val="132A39"/>
                </a:solidFill>
                <a:latin typeface="Arial"/>
                <a:ea typeface="Arial"/>
                <a:cs typeface="Arial"/>
              </a:defRPr>
            </a:pPr>
            <a:r>
              <a:rPr sz="2325" b="1">
                <a:solidFill>
                  <a:srgbClr val="132A39"/>
                </a:solidFill>
                <a:latin typeface="Arial"/>
                <a:ea typeface="Arial"/>
                <a:cs typeface="Arial"/>
              </a:rPr>
              <a:t>Responders need requests that are clear and comparable.</a:t>
            </a:r>
          </a:p>
        </p:txBody>
      </p:sp>
      <p:sp>
        <p:nvSpPr>
          <p:cNvPr id="10" name="">
            <a:extLst xmlns:a="http://schemas.openxmlformats.org/drawingml/2006/main">
              <a:ext uri="{FF2B5EF4-FFF2-40B4-BE49-F238E27FC236}">
                <a16:creationId xmlns:a16="http://schemas.microsoft.com/office/drawing/2014/main" id="{C2BD8FE3-9D7B-48A3-9BE5-C4070BBA48B5}"/>
              </a:ext>
            </a:extLst>
          </p:cNvPr>
          <p:cNvSpPr>
            <a:spLocks xmlns:a="http://schemas.openxmlformats.org/drawingml/2006/main" noGrp="1"/>
          </p:cNvSpPr>
          <p:nvPr/>
        </p:nvSpPr>
        <p:spPr>
          <a:xfrm xmlns:a="http://schemas.openxmlformats.org/drawingml/2006/main">
            <a:off x="1981200" y="4333875"/>
            <a:ext cx="8524875" cy="19050"/>
          </a:xfrm>
          <a:prstGeom xmlns:a="http://schemas.openxmlformats.org/drawingml/2006/main" prst="rect">
            <a:avLst/>
          </a:prstGeom>
          <a:solidFill xmlns:a="http://schemas.openxmlformats.org/drawingml/2006/main">
            <a:srgbClr val="CAD6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2E91679-9DEF-4224-9BEA-B45592BDD643}"/>
              </a:ext>
            </a:extLst>
          </p:cNvPr>
          <p:cNvSpPr>
            <a:spLocks xmlns:a="http://schemas.openxmlformats.org/drawingml/2006/main" noGrp="1"/>
          </p:cNvSpPr>
          <p:nvPr/>
        </p:nvSpPr>
        <p:spPr>
          <a:xfrm xmlns:a="http://schemas.openxmlformats.org/drawingml/2006/main">
            <a:off x="647700" y="4572000"/>
            <a:ext cx="1333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5550" b="0">
                <a:solidFill>
                  <a:srgbClr val="EF8B58"/>
                </a:solidFill>
                <a:latin typeface="Georgia"/>
                <a:ea typeface="Georgia"/>
                <a:cs typeface="Georgia"/>
              </a:defRPr>
            </a:pPr>
            <a:r>
              <a:rPr sz="5550" b="0">
                <a:solidFill>
                  <a:srgbClr val="EF8B58"/>
                </a:solidFill>
                <a:latin typeface="Georgia"/>
                <a:ea typeface="Georgia"/>
                <a:cs typeface="Georgia"/>
              </a:rPr>
              <a:t>03</a:t>
            </a:r>
          </a:p>
        </p:txBody>
      </p:sp>
      <p:sp>
        <p:nvSpPr>
          <p:cNvPr id="12" name="">
            <a:extLst xmlns:a="http://schemas.openxmlformats.org/drawingml/2006/main">
              <a:ext uri="{FF2B5EF4-FFF2-40B4-BE49-F238E27FC236}">
                <a16:creationId xmlns:a16="http://schemas.microsoft.com/office/drawing/2014/main" id="{AB4E6AEF-1320-462B-9884-189BB5F4D781}"/>
              </a:ext>
            </a:extLst>
          </p:cNvPr>
          <p:cNvSpPr>
            <a:spLocks xmlns:a="http://schemas.openxmlformats.org/drawingml/2006/main" noGrp="1"/>
          </p:cNvSpPr>
          <p:nvPr/>
        </p:nvSpPr>
        <p:spPr>
          <a:xfrm xmlns:a="http://schemas.openxmlformats.org/drawingml/2006/main">
            <a:off x="1981200" y="4648200"/>
            <a:ext cx="8953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325" b="1">
                <a:solidFill>
                  <a:srgbClr val="132A39"/>
                </a:solidFill>
                <a:latin typeface="Arial"/>
                <a:ea typeface="Arial"/>
                <a:cs typeface="Arial"/>
              </a:defRPr>
            </a:pPr>
            <a:r>
              <a:rPr sz="2325" b="1">
                <a:solidFill>
                  <a:srgbClr val="132A39"/>
                </a:solidFill>
                <a:latin typeface="Arial"/>
                <a:ea typeface="Arial"/>
                <a:cs typeface="Arial"/>
              </a:rPr>
              <a:t>Access barriers must be visible during review.</a:t>
            </a:r>
          </a:p>
        </p:txBody>
      </p:sp>
    </p:spTree>
    <p:extLst>
      <p:ext uri="{BB962C8B-B14F-4D97-AF65-F5344CB8AC3E}">
        <p14:creationId xmlns:p14="http://schemas.microsoft.com/office/powerpoint/2010/main" val="666162872"/>
      </p:ext>
    </p:extLst>
  </p:cSld>
</p:sld>
</file>

<file path=ppt/slides/slide3.xml><?xml version="1.0" encoding="utf-8"?>
<p:sld xmlns:p="http://schemas.openxmlformats.org/presentationml/2006/main">
  <p:cSld>
    <p:bg>
      <p:bgPr>
        <a:solidFill xmlns:a="http://schemas.openxmlformats.org/drawingml/2006/main">
          <a:srgbClr val="091F31"/>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946A45F-6161-46D8-B806-2817AF6504E1}"/>
              </a:ext>
            </a:extLst>
          </p:cNvPr>
          <p:cNvSpPr>
            <a:spLocks xmlns:a="http://schemas.openxmlformats.org/drawingml/2006/main" noGrp="1"/>
          </p:cNvSpPr>
          <p:nvPr/>
        </p:nvSpPr>
        <p:spPr>
          <a:xfrm xmlns:a="http://schemas.openxmlformats.org/drawingml/2006/main">
            <a:off x="628650" y="400050"/>
            <a:ext cx="10096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00" b="1">
                <a:solidFill>
                  <a:srgbClr val="BCE6D9"/>
                </a:solidFill>
                <a:latin typeface="Arial"/>
                <a:ea typeface="Arial"/>
                <a:cs typeface="Arial"/>
              </a:defRPr>
            </a:pPr>
            <a:r>
              <a:rPr sz="1200" b="1">
                <a:solidFill>
                  <a:srgbClr val="BCE6D9"/>
                </a:solidFill>
                <a:latin typeface="Arial"/>
                <a:ea typeface="Arial"/>
                <a:cs typeface="Arial"/>
              </a:rPr>
              <a:t>READYROUTE  /  THE SYSTEM</a:t>
            </a:r>
          </a:p>
        </p:txBody>
      </p:sp>
      <p:sp>
        <p:nvSpPr>
          <p:cNvPr id="2" name="">
            <a:extLst xmlns:a="http://schemas.openxmlformats.org/drawingml/2006/main">
              <a:ext uri="{FF2B5EF4-FFF2-40B4-BE49-F238E27FC236}">
                <a16:creationId xmlns:a16="http://schemas.microsoft.com/office/drawing/2014/main" id="{C0D93F9D-A9BB-490F-A8CB-7DCD57C60A1E}"/>
              </a:ext>
            </a:extLst>
          </p:cNvPr>
          <p:cNvSpPr>
            <a:spLocks xmlns:a="http://schemas.openxmlformats.org/drawingml/2006/main" noGrp="1"/>
          </p:cNvSpPr>
          <p:nvPr/>
        </p:nvSpPr>
        <p:spPr>
          <a:xfrm xmlns:a="http://schemas.openxmlformats.org/drawingml/2006/main">
            <a:off x="628650" y="904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600" b="0">
                <a:solidFill>
                  <a:srgbClr val="FFFFFF"/>
                </a:solidFill>
                <a:latin typeface="Georgia"/>
                <a:ea typeface="Georgia"/>
                <a:cs typeface="Georgia"/>
              </a:defRPr>
            </a:pPr>
            <a:r>
              <a:rPr sz="3600" b="0">
                <a:solidFill>
                  <a:srgbClr val="FFFFFF"/>
                </a:solidFill>
                <a:latin typeface="Georgia"/>
                <a:ea typeface="Georgia"/>
                <a:cs typeface="Georgia"/>
              </a:rPr>
              <a:t>One simple flow, three useful views</a:t>
            </a:r>
          </a:p>
        </p:txBody>
      </p:sp>
      <p:sp>
        <p:nvSpPr>
          <p:cNvPr id="3" name="">
            <a:extLst xmlns:a="http://schemas.openxmlformats.org/drawingml/2006/main">
              <a:ext uri="{FF2B5EF4-FFF2-40B4-BE49-F238E27FC236}">
                <a16:creationId xmlns:a16="http://schemas.microsoft.com/office/drawing/2014/main" id="{3A9A4C70-16D8-4F29-87C1-6CD22A458394}"/>
              </a:ext>
            </a:extLst>
          </p:cNvPr>
          <p:cNvSpPr>
            <a:spLocks xmlns:a="http://schemas.openxmlformats.org/drawingml/2006/main" noGrp="1"/>
          </p:cNvSpPr>
          <p:nvPr/>
        </p:nvSpPr>
        <p:spPr>
          <a:xfrm xmlns:a="http://schemas.openxmlformats.org/drawingml/2006/main">
            <a:off x="628650" y="6334125"/>
            <a:ext cx="10934700" cy="19050"/>
          </a:xfrm>
          <a:prstGeom xmlns:a="http://schemas.openxmlformats.org/drawingml/2006/main" prst="rect">
            <a:avLst/>
          </a:prstGeom>
          <a:solidFill xmlns:a="http://schemas.openxmlformats.org/drawingml/2006/main">
            <a:srgbClr val="54747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4ACAA5C-09B9-46B1-B439-FCC0DC774552}"/>
              </a:ext>
            </a:extLst>
          </p:cNvPr>
          <p:cNvSpPr>
            <a:spLocks xmlns:a="http://schemas.openxmlformats.org/drawingml/2006/main" noGrp="1"/>
          </p:cNvSpPr>
          <p:nvPr/>
        </p:nvSpPr>
        <p:spPr>
          <a:xfrm xmlns:a="http://schemas.openxmlformats.org/drawingml/2006/main">
            <a:off x="10477500" y="6410325"/>
            <a:ext cx="1095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125" b="1">
                <a:solidFill>
                  <a:srgbClr val="BCE6D9"/>
                </a:solidFill>
                <a:latin typeface="Arial"/>
                <a:ea typeface="Arial"/>
                <a:cs typeface="Arial"/>
              </a:defRPr>
            </a:pPr>
            <a:r>
              <a:rPr sz="1125" b="1">
                <a:solidFill>
                  <a:srgbClr val="BCE6D9"/>
                </a:solidFill>
                <a:latin typeface="Arial"/>
                <a:ea typeface="Arial"/>
                <a:cs typeface="Arial"/>
              </a:rPr>
              <a:t>03 / 06</a:t>
            </a:r>
          </a:p>
        </p:txBody>
      </p:sp>
      <p:sp>
        <p:nvSpPr>
          <p:cNvPr id="5" name="">
            <a:extLst xmlns:a="http://schemas.openxmlformats.org/drawingml/2006/main">
              <a:ext uri="{FF2B5EF4-FFF2-40B4-BE49-F238E27FC236}">
                <a16:creationId xmlns:a16="http://schemas.microsoft.com/office/drawing/2014/main" id="{7D208C06-6702-4C68-85D8-3F0C59D84E0B}"/>
              </a:ext>
            </a:extLst>
          </p:cNvPr>
          <p:cNvSpPr>
            <a:spLocks xmlns:a="http://schemas.openxmlformats.org/drawingml/2006/main" noGrp="1"/>
          </p:cNvSpPr>
          <p:nvPr/>
        </p:nvSpPr>
        <p:spPr>
          <a:xfrm xmlns:a="http://schemas.openxmlformats.org/drawingml/2006/main">
            <a:off x="666750" y="2076450"/>
            <a:ext cx="1143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4650" b="0">
                <a:solidFill>
                  <a:srgbClr val="EF8B58"/>
                </a:solidFill>
                <a:latin typeface="Georgia"/>
                <a:ea typeface="Georgia"/>
                <a:cs typeface="Georgia"/>
              </a:defRPr>
            </a:pPr>
            <a:r>
              <a:rPr sz="4650" b="0">
                <a:solidFill>
                  <a:srgbClr val="EF8B58"/>
                </a:solidFill>
                <a:latin typeface="Georgia"/>
                <a:ea typeface="Georgia"/>
                <a:cs typeface="Georgia"/>
              </a:rPr>
              <a:t>01</a:t>
            </a:r>
          </a:p>
        </p:txBody>
      </p:sp>
      <p:sp>
        <p:nvSpPr>
          <p:cNvPr id="6" name="">
            <a:extLst xmlns:a="http://schemas.openxmlformats.org/drawingml/2006/main">
              <a:ext uri="{FF2B5EF4-FFF2-40B4-BE49-F238E27FC236}">
                <a16:creationId xmlns:a16="http://schemas.microsoft.com/office/drawing/2014/main" id="{4C107908-98E5-48F6-BBE6-3F5601884381}"/>
              </a:ext>
            </a:extLst>
          </p:cNvPr>
          <p:cNvSpPr>
            <a:spLocks xmlns:a="http://schemas.openxmlformats.org/drawingml/2006/main" noGrp="1"/>
          </p:cNvSpPr>
          <p:nvPr/>
        </p:nvSpPr>
        <p:spPr>
          <a:xfrm xmlns:a="http://schemas.openxmlformats.org/drawingml/2006/main">
            <a:off x="1981200" y="2095500"/>
            <a:ext cx="228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625" b="1">
                <a:solidFill>
                  <a:srgbClr val="FFFFFF"/>
                </a:solidFill>
                <a:latin typeface="Arial"/>
                <a:ea typeface="Arial"/>
                <a:cs typeface="Arial"/>
              </a:defRPr>
            </a:pPr>
            <a:r>
              <a:rPr sz="2625" b="1">
                <a:solidFill>
                  <a:srgbClr val="FFFFFF"/>
                </a:solidFill>
                <a:latin typeface="Arial"/>
                <a:ea typeface="Arial"/>
                <a:cs typeface="Arial"/>
              </a:rPr>
              <a:t>Prepare</a:t>
            </a:r>
          </a:p>
        </p:txBody>
      </p:sp>
      <p:sp>
        <p:nvSpPr>
          <p:cNvPr id="7" name="">
            <a:extLst xmlns:a="http://schemas.openxmlformats.org/drawingml/2006/main">
              <a:ext uri="{FF2B5EF4-FFF2-40B4-BE49-F238E27FC236}">
                <a16:creationId xmlns:a16="http://schemas.microsoft.com/office/drawing/2014/main" id="{520DB108-E15A-4D9F-AE9F-C0ACC9CF9276}"/>
              </a:ext>
            </a:extLst>
          </p:cNvPr>
          <p:cNvSpPr>
            <a:spLocks xmlns:a="http://schemas.openxmlformats.org/drawingml/2006/main" noGrp="1"/>
          </p:cNvSpPr>
          <p:nvPr/>
        </p:nvSpPr>
        <p:spPr>
          <a:xfrm xmlns:a="http://schemas.openxmlformats.org/drawingml/2006/main">
            <a:off x="4524375" y="2143125"/>
            <a:ext cx="657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D7E6E4"/>
                </a:solidFill>
                <a:latin typeface="Arial"/>
                <a:ea typeface="Arial"/>
                <a:cs typeface="Arial"/>
              </a:defRPr>
            </a:pPr>
            <a:r>
              <a:rPr sz="1800" b="0">
                <a:solidFill>
                  <a:srgbClr val="D7E6E4"/>
                </a:solidFill>
                <a:latin typeface="Arial"/>
                <a:ea typeface="Arial"/>
                <a:cs typeface="Arial"/>
              </a:rPr>
              <a:t>Save a contact, meeting place, backup route, and access needs.</a:t>
            </a:r>
          </a:p>
        </p:txBody>
      </p:sp>
      <p:sp>
        <p:nvSpPr>
          <p:cNvPr id="8" name="">
            <a:extLst xmlns:a="http://schemas.openxmlformats.org/drawingml/2006/main">
              <a:ext uri="{FF2B5EF4-FFF2-40B4-BE49-F238E27FC236}">
                <a16:creationId xmlns:a16="http://schemas.microsoft.com/office/drawing/2014/main" id="{4F28D4CE-3ED3-4949-BA5A-FF25044C43E8}"/>
              </a:ext>
            </a:extLst>
          </p:cNvPr>
          <p:cNvSpPr>
            <a:spLocks xmlns:a="http://schemas.openxmlformats.org/drawingml/2006/main" noGrp="1"/>
          </p:cNvSpPr>
          <p:nvPr/>
        </p:nvSpPr>
        <p:spPr>
          <a:xfrm xmlns:a="http://schemas.openxmlformats.org/drawingml/2006/main">
            <a:off x="1981200" y="3038475"/>
            <a:ext cx="9096375" cy="19050"/>
          </a:xfrm>
          <a:prstGeom xmlns:a="http://schemas.openxmlformats.org/drawingml/2006/main" prst="rect">
            <a:avLst/>
          </a:prstGeom>
          <a:solidFill xmlns:a="http://schemas.openxmlformats.org/drawingml/2006/main">
            <a:srgbClr val="47667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FF214A6-00D1-4329-8550-8E0093E5B160}"/>
              </a:ext>
            </a:extLst>
          </p:cNvPr>
          <p:cNvSpPr>
            <a:spLocks xmlns:a="http://schemas.openxmlformats.org/drawingml/2006/main" noGrp="1"/>
          </p:cNvSpPr>
          <p:nvPr/>
        </p:nvSpPr>
        <p:spPr>
          <a:xfrm xmlns:a="http://schemas.openxmlformats.org/drawingml/2006/main">
            <a:off x="666750" y="3371850"/>
            <a:ext cx="1143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4650" b="0">
                <a:solidFill>
                  <a:srgbClr val="EF8B58"/>
                </a:solidFill>
                <a:latin typeface="Georgia"/>
                <a:ea typeface="Georgia"/>
                <a:cs typeface="Georgia"/>
              </a:defRPr>
            </a:pPr>
            <a:r>
              <a:rPr sz="4650" b="0">
                <a:solidFill>
                  <a:srgbClr val="EF8B58"/>
                </a:solidFill>
                <a:latin typeface="Georgia"/>
                <a:ea typeface="Georgia"/>
                <a:cs typeface="Georgia"/>
              </a:rPr>
              <a:t>02</a:t>
            </a:r>
          </a:p>
        </p:txBody>
      </p:sp>
      <p:sp>
        <p:nvSpPr>
          <p:cNvPr id="10" name="">
            <a:extLst xmlns:a="http://schemas.openxmlformats.org/drawingml/2006/main">
              <a:ext uri="{FF2B5EF4-FFF2-40B4-BE49-F238E27FC236}">
                <a16:creationId xmlns:a16="http://schemas.microsoft.com/office/drawing/2014/main" id="{F098B5AA-C1F5-4350-894E-D856C7131448}"/>
              </a:ext>
            </a:extLst>
          </p:cNvPr>
          <p:cNvSpPr>
            <a:spLocks xmlns:a="http://schemas.openxmlformats.org/drawingml/2006/main" noGrp="1"/>
          </p:cNvSpPr>
          <p:nvPr/>
        </p:nvSpPr>
        <p:spPr>
          <a:xfrm xmlns:a="http://schemas.openxmlformats.org/drawingml/2006/main">
            <a:off x="1981200" y="3390900"/>
            <a:ext cx="228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625" b="1">
                <a:solidFill>
                  <a:srgbClr val="FFFFFF"/>
                </a:solidFill>
                <a:latin typeface="Arial"/>
                <a:ea typeface="Arial"/>
                <a:cs typeface="Arial"/>
              </a:defRPr>
            </a:pPr>
            <a:r>
              <a:rPr sz="2625" b="1">
                <a:solidFill>
                  <a:srgbClr val="FFFFFF"/>
                </a:solidFill>
                <a:latin typeface="Arial"/>
                <a:ea typeface="Arial"/>
                <a:cs typeface="Arial"/>
              </a:rPr>
              <a:t>Report</a:t>
            </a:r>
          </a:p>
        </p:txBody>
      </p:sp>
      <p:sp>
        <p:nvSpPr>
          <p:cNvPr id="11" name="">
            <a:extLst xmlns:a="http://schemas.openxmlformats.org/drawingml/2006/main">
              <a:ext uri="{FF2B5EF4-FFF2-40B4-BE49-F238E27FC236}">
                <a16:creationId xmlns:a16="http://schemas.microsoft.com/office/drawing/2014/main" id="{FC0B2AA3-1953-4EEC-AECD-D27D4DDAE84A}"/>
              </a:ext>
            </a:extLst>
          </p:cNvPr>
          <p:cNvSpPr>
            <a:spLocks xmlns:a="http://schemas.openxmlformats.org/drawingml/2006/main" noGrp="1"/>
          </p:cNvSpPr>
          <p:nvPr/>
        </p:nvSpPr>
        <p:spPr>
          <a:xfrm xmlns:a="http://schemas.openxmlformats.org/drawingml/2006/main">
            <a:off x="4524375" y="3438525"/>
            <a:ext cx="657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D7E6E4"/>
                </a:solidFill>
                <a:latin typeface="Arial"/>
                <a:ea typeface="Arial"/>
                <a:cs typeface="Arial"/>
              </a:defRPr>
            </a:pPr>
            <a:r>
              <a:rPr sz="1800" b="0">
                <a:solidFill>
                  <a:srgbClr val="D7E6E4"/>
                </a:solidFill>
                <a:latin typeface="Arial"/>
                <a:ea typeface="Arial"/>
                <a:cs typeface="Arial"/>
              </a:rPr>
              <a:t>Send a short, structured need report in the local demo.</a:t>
            </a:r>
          </a:p>
        </p:txBody>
      </p:sp>
      <p:sp>
        <p:nvSpPr>
          <p:cNvPr id="12" name="">
            <a:extLst xmlns:a="http://schemas.openxmlformats.org/drawingml/2006/main">
              <a:ext uri="{FF2B5EF4-FFF2-40B4-BE49-F238E27FC236}">
                <a16:creationId xmlns:a16="http://schemas.microsoft.com/office/drawing/2014/main" id="{73B9E25A-8FAC-45BE-80ED-5C50DBE9B954}"/>
              </a:ext>
            </a:extLst>
          </p:cNvPr>
          <p:cNvSpPr>
            <a:spLocks xmlns:a="http://schemas.openxmlformats.org/drawingml/2006/main" noGrp="1"/>
          </p:cNvSpPr>
          <p:nvPr/>
        </p:nvSpPr>
        <p:spPr>
          <a:xfrm xmlns:a="http://schemas.openxmlformats.org/drawingml/2006/main">
            <a:off x="1981200" y="4333875"/>
            <a:ext cx="9096375" cy="19050"/>
          </a:xfrm>
          <a:prstGeom xmlns:a="http://schemas.openxmlformats.org/drawingml/2006/main" prst="rect">
            <a:avLst/>
          </a:prstGeom>
          <a:solidFill xmlns:a="http://schemas.openxmlformats.org/drawingml/2006/main">
            <a:srgbClr val="47667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31AE28C-AD8B-44E7-B942-2F3A70B349E7}"/>
              </a:ext>
            </a:extLst>
          </p:cNvPr>
          <p:cNvSpPr>
            <a:spLocks xmlns:a="http://schemas.openxmlformats.org/drawingml/2006/main" noGrp="1"/>
          </p:cNvSpPr>
          <p:nvPr/>
        </p:nvSpPr>
        <p:spPr>
          <a:xfrm xmlns:a="http://schemas.openxmlformats.org/drawingml/2006/main">
            <a:off x="666750" y="4667250"/>
            <a:ext cx="1143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4650" b="0">
                <a:solidFill>
                  <a:srgbClr val="EF8B58"/>
                </a:solidFill>
                <a:latin typeface="Georgia"/>
                <a:ea typeface="Georgia"/>
                <a:cs typeface="Georgia"/>
              </a:defRPr>
            </a:pPr>
            <a:r>
              <a:rPr sz="4650" b="0">
                <a:solidFill>
                  <a:srgbClr val="EF8B58"/>
                </a:solidFill>
                <a:latin typeface="Georgia"/>
                <a:ea typeface="Georgia"/>
                <a:cs typeface="Georgia"/>
              </a:rPr>
              <a:t>03</a:t>
            </a:r>
          </a:p>
        </p:txBody>
      </p:sp>
      <p:sp>
        <p:nvSpPr>
          <p:cNvPr id="14" name="">
            <a:extLst xmlns:a="http://schemas.openxmlformats.org/drawingml/2006/main">
              <a:ext uri="{FF2B5EF4-FFF2-40B4-BE49-F238E27FC236}">
                <a16:creationId xmlns:a16="http://schemas.microsoft.com/office/drawing/2014/main" id="{FCD2E3CF-0041-4B00-A4B0-9D59D37EC089}"/>
              </a:ext>
            </a:extLst>
          </p:cNvPr>
          <p:cNvSpPr>
            <a:spLocks xmlns:a="http://schemas.openxmlformats.org/drawingml/2006/main" noGrp="1"/>
          </p:cNvSpPr>
          <p:nvPr/>
        </p:nvSpPr>
        <p:spPr>
          <a:xfrm xmlns:a="http://schemas.openxmlformats.org/drawingml/2006/main">
            <a:off x="1981200" y="4686300"/>
            <a:ext cx="2286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625" b="1">
                <a:solidFill>
                  <a:srgbClr val="FFFFFF"/>
                </a:solidFill>
                <a:latin typeface="Arial"/>
                <a:ea typeface="Arial"/>
                <a:cs typeface="Arial"/>
              </a:defRPr>
            </a:pPr>
            <a:r>
              <a:rPr sz="2625" b="1">
                <a:solidFill>
                  <a:srgbClr val="FFFFFF"/>
                </a:solidFill>
                <a:latin typeface="Arial"/>
                <a:ea typeface="Arial"/>
                <a:cs typeface="Arial"/>
              </a:rPr>
              <a:t>Review</a:t>
            </a:r>
          </a:p>
        </p:txBody>
      </p:sp>
      <p:sp>
        <p:nvSpPr>
          <p:cNvPr id="15" name="">
            <a:extLst xmlns:a="http://schemas.openxmlformats.org/drawingml/2006/main">
              <a:ext uri="{FF2B5EF4-FFF2-40B4-BE49-F238E27FC236}">
                <a16:creationId xmlns:a16="http://schemas.microsoft.com/office/drawing/2014/main" id="{5E1880C4-2256-4A6E-A799-60FF07D1CB13}"/>
              </a:ext>
            </a:extLst>
          </p:cNvPr>
          <p:cNvSpPr>
            <a:spLocks xmlns:a="http://schemas.openxmlformats.org/drawingml/2006/main" noGrp="1"/>
          </p:cNvSpPr>
          <p:nvPr/>
        </p:nvSpPr>
        <p:spPr>
          <a:xfrm xmlns:a="http://schemas.openxmlformats.org/drawingml/2006/main">
            <a:off x="4524375" y="4733925"/>
            <a:ext cx="657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00" b="0">
                <a:solidFill>
                  <a:srgbClr val="D7E6E4"/>
                </a:solidFill>
                <a:latin typeface="Arial"/>
                <a:ea typeface="Arial"/>
                <a:cs typeface="Arial"/>
              </a:defRPr>
            </a:pPr>
            <a:r>
              <a:rPr sz="1800" b="0">
                <a:solidFill>
                  <a:srgbClr val="D7E6E4"/>
                </a:solidFill>
                <a:latin typeface="Arial"/>
                <a:ea typeface="Arial"/>
                <a:cs typeface="Arial"/>
              </a:rPr>
              <a:t>See a ranked queue, matching resources, and manual assignment.</a:t>
            </a:r>
          </a:p>
        </p:txBody>
      </p:sp>
    </p:spTree>
    <p:extLst>
      <p:ext uri="{BB962C8B-B14F-4D97-AF65-F5344CB8AC3E}">
        <p14:creationId xmlns:p14="http://schemas.microsoft.com/office/powerpoint/2010/main" val="542145981"/>
      </p:ext>
    </p:extLst>
  </p:cSld>
</p:sld>
</file>

<file path=ppt/slides/slide4.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98B7708-70F2-400F-8CDD-13C43F748ED3}"/>
              </a:ext>
            </a:extLst>
          </p:cNvPr>
          <p:cNvSpPr>
            <a:spLocks xmlns:a="http://schemas.openxmlformats.org/drawingml/2006/main" noGrp="1"/>
          </p:cNvSpPr>
          <p:nvPr/>
        </p:nvSpPr>
        <p:spPr>
          <a:xfrm xmlns:a="http://schemas.openxmlformats.org/drawingml/2006/main">
            <a:off x="628650" y="400050"/>
            <a:ext cx="10096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00" b="1">
                <a:solidFill>
                  <a:srgbClr val="006C69"/>
                </a:solidFill>
                <a:latin typeface="Arial"/>
                <a:ea typeface="Arial"/>
                <a:cs typeface="Arial"/>
              </a:defRPr>
            </a:pPr>
            <a:r>
              <a:rPr sz="1200" b="1">
                <a:solidFill>
                  <a:srgbClr val="006C69"/>
                </a:solidFill>
                <a:latin typeface="Arial"/>
                <a:ea typeface="Arial"/>
                <a:cs typeface="Arial"/>
              </a:rPr>
              <a:t>READYROUTE  /  DEMONSTRATION</a:t>
            </a:r>
          </a:p>
        </p:txBody>
      </p:sp>
      <p:sp>
        <p:nvSpPr>
          <p:cNvPr id="2" name="">
            <a:extLst xmlns:a="http://schemas.openxmlformats.org/drawingml/2006/main">
              <a:ext uri="{FF2B5EF4-FFF2-40B4-BE49-F238E27FC236}">
                <a16:creationId xmlns:a16="http://schemas.microsoft.com/office/drawing/2014/main" id="{0F3010D6-0F3F-4B64-A5C4-7976641CC3AF}"/>
              </a:ext>
            </a:extLst>
          </p:cNvPr>
          <p:cNvSpPr>
            <a:spLocks xmlns:a="http://schemas.openxmlformats.org/drawingml/2006/main" noGrp="1"/>
          </p:cNvSpPr>
          <p:nvPr/>
        </p:nvSpPr>
        <p:spPr>
          <a:xfrm xmlns:a="http://schemas.openxmlformats.org/drawingml/2006/main">
            <a:off x="628650" y="904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600" b="0">
                <a:solidFill>
                  <a:srgbClr val="132A39"/>
                </a:solidFill>
                <a:latin typeface="Georgia"/>
                <a:ea typeface="Georgia"/>
                <a:cs typeface="Georgia"/>
              </a:defRPr>
            </a:pPr>
            <a:r>
              <a:rPr sz="3600" b="0">
                <a:solidFill>
                  <a:srgbClr val="132A39"/>
                </a:solidFill>
                <a:latin typeface="Georgia"/>
                <a:ea typeface="Georgia"/>
                <a:cs typeface="Georgia"/>
              </a:rPr>
              <a:t>A household makes a plan</a:t>
            </a:r>
          </a:p>
        </p:txBody>
      </p:sp>
      <p:sp>
        <p:nvSpPr>
          <p:cNvPr id="3" name="">
            <a:extLst xmlns:a="http://schemas.openxmlformats.org/drawingml/2006/main">
              <a:ext uri="{FF2B5EF4-FFF2-40B4-BE49-F238E27FC236}">
                <a16:creationId xmlns:a16="http://schemas.microsoft.com/office/drawing/2014/main" id="{CB8C7676-29C0-4238-B6DC-4538BEB1A090}"/>
              </a:ext>
            </a:extLst>
          </p:cNvPr>
          <p:cNvSpPr>
            <a:spLocks xmlns:a="http://schemas.openxmlformats.org/drawingml/2006/main" noGrp="1"/>
          </p:cNvSpPr>
          <p:nvPr/>
        </p:nvSpPr>
        <p:spPr>
          <a:xfrm xmlns:a="http://schemas.openxmlformats.org/drawingml/2006/main">
            <a:off x="628650" y="6334125"/>
            <a:ext cx="10934700" cy="19050"/>
          </a:xfrm>
          <a:prstGeom xmlns:a="http://schemas.openxmlformats.org/drawingml/2006/main" prst="rect">
            <a:avLst/>
          </a:prstGeom>
          <a:solidFill xmlns:a="http://schemas.openxmlformats.org/drawingml/2006/main">
            <a:srgbClr val="CAD6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4A0B4DF-B092-4346-B2E3-DD00DC917395}"/>
              </a:ext>
            </a:extLst>
          </p:cNvPr>
          <p:cNvSpPr>
            <a:spLocks xmlns:a="http://schemas.openxmlformats.org/drawingml/2006/main" noGrp="1"/>
          </p:cNvSpPr>
          <p:nvPr/>
        </p:nvSpPr>
        <p:spPr>
          <a:xfrm xmlns:a="http://schemas.openxmlformats.org/drawingml/2006/main">
            <a:off x="10477500" y="6410325"/>
            <a:ext cx="1095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125" b="1">
                <a:solidFill>
                  <a:srgbClr val="526775"/>
                </a:solidFill>
                <a:latin typeface="Arial"/>
                <a:ea typeface="Arial"/>
                <a:cs typeface="Arial"/>
              </a:defRPr>
            </a:pPr>
            <a:r>
              <a:rPr sz="1125" b="1">
                <a:solidFill>
                  <a:srgbClr val="526775"/>
                </a:solidFill>
                <a:latin typeface="Arial"/>
                <a:ea typeface="Arial"/>
                <a:cs typeface="Arial"/>
              </a:rPr>
              <a:t>04 / 06</a:t>
            </a:r>
          </a:p>
        </p:txBody>
      </p:sp>
      <p:sp>
        <p:nvSpPr>
          <p:cNvPr id="5" name="">
            <a:extLst xmlns:a="http://schemas.openxmlformats.org/drawingml/2006/main">
              <a:ext uri="{FF2B5EF4-FFF2-40B4-BE49-F238E27FC236}">
                <a16:creationId xmlns:a16="http://schemas.microsoft.com/office/drawing/2014/main" id="{AC479DC2-D5F4-4F7D-ABE0-49CAB8106666}"/>
              </a:ext>
            </a:extLst>
          </p:cNvPr>
          <p:cNvSpPr>
            <a:spLocks xmlns:a="http://schemas.openxmlformats.org/drawingml/2006/main" noGrp="1"/>
          </p:cNvSpPr>
          <p:nvPr/>
        </p:nvSpPr>
        <p:spPr>
          <a:xfrm xmlns:a="http://schemas.openxmlformats.org/drawingml/2006/main">
            <a:off x="676275" y="2009775"/>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1">
                <a:solidFill>
                  <a:srgbClr val="006C69"/>
                </a:solidFill>
                <a:latin typeface="Arial"/>
                <a:ea typeface="Arial"/>
                <a:cs typeface="Arial"/>
              </a:defRPr>
            </a:pPr>
            <a:r>
              <a:rPr sz="1350" b="1">
                <a:solidFill>
                  <a:srgbClr val="006C69"/>
                </a:solidFill>
                <a:latin typeface="Arial"/>
                <a:ea typeface="Arial"/>
                <a:cs typeface="Arial"/>
              </a:rPr>
              <a:t>INPUT</a:t>
            </a:r>
          </a:p>
        </p:txBody>
      </p:sp>
      <p:sp>
        <p:nvSpPr>
          <p:cNvPr id="6" name="">
            <a:extLst xmlns:a="http://schemas.openxmlformats.org/drawingml/2006/main">
              <a:ext uri="{FF2B5EF4-FFF2-40B4-BE49-F238E27FC236}">
                <a16:creationId xmlns:a16="http://schemas.microsoft.com/office/drawing/2014/main" id="{3047016C-ACD0-4C27-B1E3-8C4CEBCE119D}"/>
              </a:ext>
            </a:extLst>
          </p:cNvPr>
          <p:cNvSpPr>
            <a:spLocks xmlns:a="http://schemas.openxmlformats.org/drawingml/2006/main" noGrp="1"/>
          </p:cNvSpPr>
          <p:nvPr/>
        </p:nvSpPr>
        <p:spPr>
          <a:xfrm xmlns:a="http://schemas.openxmlformats.org/drawingml/2006/main">
            <a:off x="666750" y="2419350"/>
            <a:ext cx="5334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925" b="0">
                <a:solidFill>
                  <a:srgbClr val="132A39"/>
                </a:solidFill>
                <a:latin typeface="Georgia"/>
                <a:ea typeface="Georgia"/>
                <a:cs typeface="Georgia"/>
              </a:defRPr>
            </a:pPr>
            <a:r>
              <a:rPr sz="2925" b="0">
                <a:solidFill>
                  <a:srgbClr val="132A39"/>
                </a:solidFill>
                <a:latin typeface="Georgia"/>
                <a:ea typeface="Georgia"/>
                <a:cs typeface="Georgia"/>
              </a:rPr>
              <a:t>Rivera household</a:t>
            </a:r>
          </a:p>
        </p:txBody>
      </p:sp>
      <p:sp>
        <p:nvSpPr>
          <p:cNvPr id="7" name="">
            <a:extLst xmlns:a="http://schemas.openxmlformats.org/drawingml/2006/main">
              <a:ext uri="{FF2B5EF4-FFF2-40B4-BE49-F238E27FC236}">
                <a16:creationId xmlns:a16="http://schemas.microsoft.com/office/drawing/2014/main" id="{3D928BA1-F341-42F1-BD8D-F69D7D106E30}"/>
              </a:ext>
            </a:extLst>
          </p:cNvPr>
          <p:cNvSpPr>
            <a:spLocks xmlns:a="http://schemas.openxmlformats.org/drawingml/2006/main" noGrp="1"/>
          </p:cNvSpPr>
          <p:nvPr/>
        </p:nvSpPr>
        <p:spPr>
          <a:xfrm xmlns:a="http://schemas.openxmlformats.org/drawingml/2006/main">
            <a:off x="666750" y="3105150"/>
            <a:ext cx="5200650" cy="9525"/>
          </a:xfrm>
          <a:prstGeom xmlns:a="http://schemas.openxmlformats.org/drawingml/2006/main" prst="rect">
            <a:avLst/>
          </a:prstGeom>
          <a:solidFill xmlns:a="http://schemas.openxmlformats.org/drawingml/2006/main">
            <a:srgbClr val="CAD6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1275E3D-154A-4D15-9601-3CA3B28BE4FD}"/>
              </a:ext>
            </a:extLst>
          </p:cNvPr>
          <p:cNvSpPr>
            <a:spLocks xmlns:a="http://schemas.openxmlformats.org/drawingml/2006/main" noGrp="1"/>
          </p:cNvSpPr>
          <p:nvPr/>
        </p:nvSpPr>
        <p:spPr>
          <a:xfrm xmlns:a="http://schemas.openxmlformats.org/drawingml/2006/main">
            <a:off x="676275" y="3257550"/>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1">
                <a:solidFill>
                  <a:srgbClr val="526775"/>
                </a:solidFill>
                <a:latin typeface="Arial"/>
                <a:ea typeface="Arial"/>
                <a:cs typeface="Arial"/>
              </a:defRPr>
            </a:pPr>
            <a:r>
              <a:rPr sz="1350" b="1">
                <a:solidFill>
                  <a:srgbClr val="526775"/>
                </a:solidFill>
                <a:latin typeface="Arial"/>
                <a:ea typeface="Arial"/>
                <a:cs typeface="Arial"/>
              </a:rPr>
              <a:t>Out-of-area contact</a:t>
            </a:r>
          </a:p>
        </p:txBody>
      </p:sp>
      <p:sp>
        <p:nvSpPr>
          <p:cNvPr id="9" name="">
            <a:extLst xmlns:a="http://schemas.openxmlformats.org/drawingml/2006/main">
              <a:ext uri="{FF2B5EF4-FFF2-40B4-BE49-F238E27FC236}">
                <a16:creationId xmlns:a16="http://schemas.microsoft.com/office/drawing/2014/main" id="{DDBFFFD0-D285-4651-8F23-AFDB1ED2774B}"/>
              </a:ext>
            </a:extLst>
          </p:cNvPr>
          <p:cNvSpPr>
            <a:spLocks xmlns:a="http://schemas.openxmlformats.org/drawingml/2006/main" noGrp="1"/>
          </p:cNvSpPr>
          <p:nvPr/>
        </p:nvSpPr>
        <p:spPr>
          <a:xfrm xmlns:a="http://schemas.openxmlformats.org/drawingml/2006/main">
            <a:off x="676275" y="3552825"/>
            <a:ext cx="4476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0">
                <a:solidFill>
                  <a:srgbClr val="132A39"/>
                </a:solidFill>
                <a:latin typeface="Arial"/>
                <a:ea typeface="Arial"/>
                <a:cs typeface="Arial"/>
              </a:defRPr>
            </a:pPr>
            <a:r>
              <a:rPr sz="1950" b="0">
                <a:solidFill>
                  <a:srgbClr val="132A39"/>
                </a:solidFill>
                <a:latin typeface="Arial"/>
                <a:ea typeface="Arial"/>
                <a:cs typeface="Arial"/>
              </a:rPr>
              <a:t>Elena · 555-0142</a:t>
            </a:r>
          </a:p>
        </p:txBody>
      </p:sp>
      <p:sp>
        <p:nvSpPr>
          <p:cNvPr id="10" name="">
            <a:extLst xmlns:a="http://schemas.openxmlformats.org/drawingml/2006/main">
              <a:ext uri="{FF2B5EF4-FFF2-40B4-BE49-F238E27FC236}">
                <a16:creationId xmlns:a16="http://schemas.microsoft.com/office/drawing/2014/main" id="{A2C4E7F7-8579-45E4-B15C-E2BA096CB58A}"/>
              </a:ext>
            </a:extLst>
          </p:cNvPr>
          <p:cNvSpPr>
            <a:spLocks xmlns:a="http://schemas.openxmlformats.org/drawingml/2006/main" noGrp="1"/>
          </p:cNvSpPr>
          <p:nvPr/>
        </p:nvSpPr>
        <p:spPr>
          <a:xfrm xmlns:a="http://schemas.openxmlformats.org/drawingml/2006/main">
            <a:off x="676275" y="4076700"/>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1">
                <a:solidFill>
                  <a:srgbClr val="526775"/>
                </a:solidFill>
                <a:latin typeface="Arial"/>
                <a:ea typeface="Arial"/>
                <a:cs typeface="Arial"/>
              </a:defRPr>
            </a:pPr>
            <a:r>
              <a:rPr sz="1350" b="1">
                <a:solidFill>
                  <a:srgbClr val="526775"/>
                </a:solidFill>
                <a:latin typeface="Arial"/>
                <a:ea typeface="Arial"/>
                <a:cs typeface="Arial"/>
              </a:rPr>
              <a:t>Meeting point</a:t>
            </a:r>
          </a:p>
        </p:txBody>
      </p:sp>
      <p:sp>
        <p:nvSpPr>
          <p:cNvPr id="11" name="">
            <a:extLst xmlns:a="http://schemas.openxmlformats.org/drawingml/2006/main">
              <a:ext uri="{FF2B5EF4-FFF2-40B4-BE49-F238E27FC236}">
                <a16:creationId xmlns:a16="http://schemas.microsoft.com/office/drawing/2014/main" id="{EEFD4D1A-6758-49A3-BB5B-B55881DC3E00}"/>
              </a:ext>
            </a:extLst>
          </p:cNvPr>
          <p:cNvSpPr>
            <a:spLocks xmlns:a="http://schemas.openxmlformats.org/drawingml/2006/main" noGrp="1"/>
          </p:cNvSpPr>
          <p:nvPr/>
        </p:nvSpPr>
        <p:spPr>
          <a:xfrm xmlns:a="http://schemas.openxmlformats.org/drawingml/2006/main">
            <a:off x="676275" y="4371975"/>
            <a:ext cx="4476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0">
                <a:solidFill>
                  <a:srgbClr val="132A39"/>
                </a:solidFill>
                <a:latin typeface="Arial"/>
                <a:ea typeface="Arial"/>
                <a:cs typeface="Arial"/>
              </a:defRPr>
            </a:pPr>
            <a:r>
              <a:rPr sz="1950" b="0">
                <a:solidFill>
                  <a:srgbClr val="132A39"/>
                </a:solidFill>
                <a:latin typeface="Arial"/>
                <a:ea typeface="Arial"/>
                <a:cs typeface="Arial"/>
              </a:rPr>
              <a:t>North library</a:t>
            </a:r>
          </a:p>
        </p:txBody>
      </p:sp>
      <p:sp>
        <p:nvSpPr>
          <p:cNvPr id="12" name="">
            <a:extLst xmlns:a="http://schemas.openxmlformats.org/drawingml/2006/main">
              <a:ext uri="{FF2B5EF4-FFF2-40B4-BE49-F238E27FC236}">
                <a16:creationId xmlns:a16="http://schemas.microsoft.com/office/drawing/2014/main" id="{0958283D-4923-4D17-A03F-CE62898C1D7A}"/>
              </a:ext>
            </a:extLst>
          </p:cNvPr>
          <p:cNvSpPr>
            <a:spLocks xmlns:a="http://schemas.openxmlformats.org/drawingml/2006/main" noGrp="1"/>
          </p:cNvSpPr>
          <p:nvPr/>
        </p:nvSpPr>
        <p:spPr>
          <a:xfrm xmlns:a="http://schemas.openxmlformats.org/drawingml/2006/main">
            <a:off x="676275" y="4905375"/>
            <a:ext cx="342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1">
                <a:solidFill>
                  <a:srgbClr val="526775"/>
                </a:solidFill>
                <a:latin typeface="Arial"/>
                <a:ea typeface="Arial"/>
                <a:cs typeface="Arial"/>
              </a:defRPr>
            </a:pPr>
            <a:r>
              <a:rPr sz="1350" b="1">
                <a:solidFill>
                  <a:srgbClr val="526775"/>
                </a:solidFill>
                <a:latin typeface="Arial"/>
                <a:ea typeface="Arial"/>
                <a:cs typeface="Arial"/>
              </a:rPr>
              <a:t>Backup transport</a:t>
            </a:r>
          </a:p>
        </p:txBody>
      </p:sp>
      <p:sp>
        <p:nvSpPr>
          <p:cNvPr id="13" name="">
            <a:extLst xmlns:a="http://schemas.openxmlformats.org/drawingml/2006/main">
              <a:ext uri="{FF2B5EF4-FFF2-40B4-BE49-F238E27FC236}">
                <a16:creationId xmlns:a16="http://schemas.microsoft.com/office/drawing/2014/main" id="{B5A4C753-A1B7-47C2-836F-19162D719867}"/>
              </a:ext>
            </a:extLst>
          </p:cNvPr>
          <p:cNvSpPr>
            <a:spLocks xmlns:a="http://schemas.openxmlformats.org/drawingml/2006/main" noGrp="1"/>
          </p:cNvSpPr>
          <p:nvPr/>
        </p:nvSpPr>
        <p:spPr>
          <a:xfrm xmlns:a="http://schemas.openxmlformats.org/drawingml/2006/main">
            <a:off x="676275" y="5200650"/>
            <a:ext cx="4476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950" b="0">
                <a:solidFill>
                  <a:srgbClr val="132A39"/>
                </a:solidFill>
                <a:latin typeface="Arial"/>
                <a:ea typeface="Arial"/>
                <a:cs typeface="Arial"/>
              </a:defRPr>
            </a:pPr>
            <a:r>
              <a:rPr sz="1950" b="0">
                <a:solidFill>
                  <a:srgbClr val="132A39"/>
                </a:solidFill>
                <a:latin typeface="Arial"/>
                <a:ea typeface="Arial"/>
                <a:cs typeface="Arial"/>
              </a:rPr>
              <a:t>Accessible van</a:t>
            </a:r>
          </a:p>
        </p:txBody>
      </p:sp>
      <p:sp>
        <p:nvSpPr>
          <p:cNvPr id="14" name="">
            <a:extLst xmlns:a="http://schemas.openxmlformats.org/drawingml/2006/main">
              <a:ext uri="{FF2B5EF4-FFF2-40B4-BE49-F238E27FC236}">
                <a16:creationId xmlns:a16="http://schemas.microsoft.com/office/drawing/2014/main" id="{C925F8CE-3EA8-4DB6-93EA-B67773183C8E}"/>
              </a:ext>
            </a:extLst>
          </p:cNvPr>
          <p:cNvSpPr>
            <a:spLocks xmlns:a="http://schemas.openxmlformats.org/drawingml/2006/main" noGrp="1"/>
          </p:cNvSpPr>
          <p:nvPr/>
        </p:nvSpPr>
        <p:spPr>
          <a:xfrm xmlns:a="http://schemas.openxmlformats.org/drawingml/2006/main">
            <a:off x="6210300" y="2047875"/>
            <a:ext cx="5305425" cy="37433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E4E1449-4081-4E40-9A6F-B05182FB02FB}"/>
              </a:ext>
            </a:extLst>
          </p:cNvPr>
          <p:cNvSpPr>
            <a:spLocks xmlns:a="http://schemas.openxmlformats.org/drawingml/2006/main" noGrp="1"/>
          </p:cNvSpPr>
          <p:nvPr/>
        </p:nvSpPr>
        <p:spPr>
          <a:xfrm xmlns:a="http://schemas.openxmlformats.org/drawingml/2006/main">
            <a:off x="6210300" y="2047875"/>
            <a:ext cx="5305425" cy="76200"/>
          </a:xfrm>
          <a:prstGeom xmlns:a="http://schemas.openxmlformats.org/drawingml/2006/main" prst="rect">
            <a:avLst/>
          </a:prstGeom>
          <a:solidFill xmlns:a="http://schemas.openxmlformats.org/drawingml/2006/main">
            <a:srgbClr val="006C6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5FE7D9A-3043-49DB-920F-7ED33330647D}"/>
              </a:ext>
            </a:extLst>
          </p:cNvPr>
          <p:cNvSpPr>
            <a:spLocks xmlns:a="http://schemas.openxmlformats.org/drawingml/2006/main" noGrp="1"/>
          </p:cNvSpPr>
          <p:nvPr/>
        </p:nvSpPr>
        <p:spPr>
          <a:xfrm xmlns:a="http://schemas.openxmlformats.org/drawingml/2006/main">
            <a:off x="6543675" y="2371725"/>
            <a:ext cx="4381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350" b="1">
                <a:solidFill>
                  <a:srgbClr val="006C69"/>
                </a:solidFill>
                <a:latin typeface="Arial"/>
                <a:ea typeface="Arial"/>
                <a:cs typeface="Arial"/>
              </a:defRPr>
            </a:pPr>
            <a:r>
              <a:rPr sz="1350" b="1">
                <a:solidFill>
                  <a:srgbClr val="006C69"/>
                </a:solidFill>
                <a:latin typeface="Arial"/>
                <a:ea typeface="Arial"/>
                <a:cs typeface="Arial"/>
              </a:rPr>
              <a:t>SAVED PLAN</a:t>
            </a:r>
          </a:p>
        </p:txBody>
      </p:sp>
      <p:sp>
        <p:nvSpPr>
          <p:cNvPr id="17" name="">
            <a:extLst xmlns:a="http://schemas.openxmlformats.org/drawingml/2006/main">
              <a:ext uri="{FF2B5EF4-FFF2-40B4-BE49-F238E27FC236}">
                <a16:creationId xmlns:a16="http://schemas.microsoft.com/office/drawing/2014/main" id="{CF31B662-B9F4-48F0-8440-F70A2B9B165E}"/>
              </a:ext>
            </a:extLst>
          </p:cNvPr>
          <p:cNvSpPr>
            <a:spLocks xmlns:a="http://schemas.openxmlformats.org/drawingml/2006/main" noGrp="1"/>
          </p:cNvSpPr>
          <p:nvPr/>
        </p:nvSpPr>
        <p:spPr>
          <a:xfrm xmlns:a="http://schemas.openxmlformats.org/drawingml/2006/main">
            <a:off x="6543675" y="2895600"/>
            <a:ext cx="4524375"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225" b="0">
                <a:solidFill>
                  <a:srgbClr val="091F31"/>
                </a:solidFill>
                <a:latin typeface="Georgia"/>
                <a:ea typeface="Georgia"/>
                <a:cs typeface="Georgia"/>
              </a:defRPr>
            </a:pPr>
            <a:r>
              <a:rPr sz="3225" b="0">
                <a:solidFill>
                  <a:srgbClr val="091F31"/>
                </a:solidFill>
                <a:latin typeface="Georgia"/>
                <a:ea typeface="Georgia"/>
                <a:cs typeface="Georgia"/>
              </a:rPr>
              <a:t>One page to carry</a:t>
            </a:r>
          </a:p>
          <a:p xmlns:a="http://schemas.openxmlformats.org/drawingml/2006/main">
            <a:pPr>
              <a:defRPr sz="3225" b="0">
                <a:solidFill>
                  <a:srgbClr val="091F31"/>
                </a:solidFill>
                <a:latin typeface="Georgia"/>
                <a:ea typeface="Georgia"/>
                <a:cs typeface="Georgia"/>
              </a:defRPr>
            </a:pPr>
            <a:r>
              <a:rPr sz="3225" b="0">
                <a:solidFill>
                  <a:srgbClr val="091F31"/>
                </a:solidFill>
                <a:latin typeface="Georgia"/>
                <a:ea typeface="Georgia"/>
                <a:cs typeface="Georgia"/>
              </a:rPr>
              <a:t>or share.</a:t>
            </a:r>
          </a:p>
        </p:txBody>
      </p:sp>
      <p:sp>
        <p:nvSpPr>
          <p:cNvPr id="18" name="">
            <a:extLst xmlns:a="http://schemas.openxmlformats.org/drawingml/2006/main">
              <a:ext uri="{FF2B5EF4-FFF2-40B4-BE49-F238E27FC236}">
                <a16:creationId xmlns:a16="http://schemas.microsoft.com/office/drawing/2014/main" id="{5037627A-0F54-4B2E-BEBD-9DC415A2C5ED}"/>
              </a:ext>
            </a:extLst>
          </p:cNvPr>
          <p:cNvSpPr>
            <a:spLocks xmlns:a="http://schemas.openxmlformats.org/drawingml/2006/main" noGrp="1"/>
          </p:cNvSpPr>
          <p:nvPr/>
        </p:nvSpPr>
        <p:spPr>
          <a:xfrm xmlns:a="http://schemas.openxmlformats.org/drawingml/2006/main">
            <a:off x="6543675" y="4724400"/>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526775"/>
                </a:solidFill>
                <a:latin typeface="Arial"/>
                <a:ea typeface="Arial"/>
                <a:cs typeface="Arial"/>
              </a:defRPr>
            </a:pPr>
            <a:r>
              <a:rPr sz="1725" b="0">
                <a:solidFill>
                  <a:srgbClr val="526775"/>
                </a:solidFill>
                <a:latin typeface="Arial"/>
                <a:ea typeface="Arial"/>
                <a:cs typeface="Arial"/>
              </a:rPr>
              <a:t>Local storage  ·  Print  ·  Delete</a:t>
            </a:r>
          </a:p>
        </p:txBody>
      </p:sp>
    </p:spTree>
    <p:extLst>
      <p:ext uri="{BB962C8B-B14F-4D97-AF65-F5344CB8AC3E}">
        <p14:creationId xmlns:p14="http://schemas.microsoft.com/office/powerpoint/2010/main" val="293343533"/>
      </p:ext>
    </p:extLst>
  </p:cSld>
</p:sld>
</file>

<file path=ppt/slides/slide5.xml><?xml version="1.0" encoding="utf-8"?>
<p:sld xmlns:p="http://schemas.openxmlformats.org/presentationml/2006/main">
  <p:cSld>
    <p:bg>
      <p:bgPr>
        <a:solidFill xmlns:a="http://schemas.openxmlformats.org/drawingml/2006/main">
          <a:srgbClr val="F4F1E9"/>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46F5506-B9BC-48FB-84C7-6D009EE6A213}"/>
              </a:ext>
            </a:extLst>
          </p:cNvPr>
          <p:cNvSpPr>
            <a:spLocks xmlns:a="http://schemas.openxmlformats.org/drawingml/2006/main" noGrp="1"/>
          </p:cNvSpPr>
          <p:nvPr/>
        </p:nvSpPr>
        <p:spPr>
          <a:xfrm xmlns:a="http://schemas.openxmlformats.org/drawingml/2006/main">
            <a:off x="628650" y="400050"/>
            <a:ext cx="10096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00" b="1">
                <a:solidFill>
                  <a:srgbClr val="006C69"/>
                </a:solidFill>
                <a:latin typeface="Arial"/>
                <a:ea typeface="Arial"/>
                <a:cs typeface="Arial"/>
              </a:defRPr>
            </a:pPr>
            <a:r>
              <a:rPr sz="1200" b="1">
                <a:solidFill>
                  <a:srgbClr val="006C69"/>
                </a:solidFill>
                <a:latin typeface="Arial"/>
                <a:ea typeface="Arial"/>
                <a:cs typeface="Arial"/>
              </a:rPr>
              <a:t>READYROUTE  /  DEMONSTRATION</a:t>
            </a:r>
          </a:p>
        </p:txBody>
      </p:sp>
      <p:sp>
        <p:nvSpPr>
          <p:cNvPr id="2" name="">
            <a:extLst xmlns:a="http://schemas.openxmlformats.org/drawingml/2006/main">
              <a:ext uri="{FF2B5EF4-FFF2-40B4-BE49-F238E27FC236}">
                <a16:creationId xmlns:a16="http://schemas.microsoft.com/office/drawing/2014/main" id="{8C38BF7E-5CC9-41F7-A6D0-402489C6CFF0}"/>
              </a:ext>
            </a:extLst>
          </p:cNvPr>
          <p:cNvSpPr>
            <a:spLocks xmlns:a="http://schemas.openxmlformats.org/drawingml/2006/main" noGrp="1"/>
          </p:cNvSpPr>
          <p:nvPr/>
        </p:nvSpPr>
        <p:spPr>
          <a:xfrm xmlns:a="http://schemas.openxmlformats.org/drawingml/2006/main">
            <a:off x="628650" y="904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600" b="0">
                <a:solidFill>
                  <a:srgbClr val="132A39"/>
                </a:solidFill>
                <a:latin typeface="Georgia"/>
                <a:ea typeface="Georgia"/>
                <a:cs typeface="Georgia"/>
              </a:defRPr>
            </a:pPr>
            <a:r>
              <a:rPr sz="3600" b="0">
                <a:solidFill>
                  <a:srgbClr val="132A39"/>
                </a:solidFill>
                <a:latin typeface="Georgia"/>
                <a:ea typeface="Georgia"/>
                <a:cs typeface="Georgia"/>
              </a:rPr>
              <a:t>The queue shows the reason</a:t>
            </a:r>
          </a:p>
        </p:txBody>
      </p:sp>
      <p:sp>
        <p:nvSpPr>
          <p:cNvPr id="3" name="">
            <a:extLst xmlns:a="http://schemas.openxmlformats.org/drawingml/2006/main">
              <a:ext uri="{FF2B5EF4-FFF2-40B4-BE49-F238E27FC236}">
                <a16:creationId xmlns:a16="http://schemas.microsoft.com/office/drawing/2014/main" id="{BEFA2FCD-473D-4220-99B2-C31F3DC9FAB6}"/>
              </a:ext>
            </a:extLst>
          </p:cNvPr>
          <p:cNvSpPr>
            <a:spLocks xmlns:a="http://schemas.openxmlformats.org/drawingml/2006/main" noGrp="1"/>
          </p:cNvSpPr>
          <p:nvPr/>
        </p:nvSpPr>
        <p:spPr>
          <a:xfrm xmlns:a="http://schemas.openxmlformats.org/drawingml/2006/main">
            <a:off x="628650" y="6334125"/>
            <a:ext cx="10934700" cy="19050"/>
          </a:xfrm>
          <a:prstGeom xmlns:a="http://schemas.openxmlformats.org/drawingml/2006/main" prst="rect">
            <a:avLst/>
          </a:prstGeom>
          <a:solidFill xmlns:a="http://schemas.openxmlformats.org/drawingml/2006/main">
            <a:srgbClr val="CAD6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FFF1724-C04B-4532-9A89-A01149A2E0C9}"/>
              </a:ext>
            </a:extLst>
          </p:cNvPr>
          <p:cNvSpPr>
            <a:spLocks xmlns:a="http://schemas.openxmlformats.org/drawingml/2006/main" noGrp="1"/>
          </p:cNvSpPr>
          <p:nvPr/>
        </p:nvSpPr>
        <p:spPr>
          <a:xfrm xmlns:a="http://schemas.openxmlformats.org/drawingml/2006/main">
            <a:off x="10477500" y="6410325"/>
            <a:ext cx="1095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125" b="1">
                <a:solidFill>
                  <a:srgbClr val="526775"/>
                </a:solidFill>
                <a:latin typeface="Arial"/>
                <a:ea typeface="Arial"/>
                <a:cs typeface="Arial"/>
              </a:defRPr>
            </a:pPr>
            <a:r>
              <a:rPr sz="1125" b="1">
                <a:solidFill>
                  <a:srgbClr val="526775"/>
                </a:solidFill>
                <a:latin typeface="Arial"/>
                <a:ea typeface="Arial"/>
                <a:cs typeface="Arial"/>
              </a:rPr>
              <a:t>05 / 06</a:t>
            </a:r>
          </a:p>
        </p:txBody>
      </p:sp>
      <p:sp>
        <p:nvSpPr>
          <p:cNvPr id="5" name="">
            <a:extLst xmlns:a="http://schemas.openxmlformats.org/drawingml/2006/main">
              <a:ext uri="{FF2B5EF4-FFF2-40B4-BE49-F238E27FC236}">
                <a16:creationId xmlns:a16="http://schemas.microsoft.com/office/drawing/2014/main" id="{4EC5F8F4-4633-4B28-ABCD-B42C2409A5C4}"/>
              </a:ext>
            </a:extLst>
          </p:cNvPr>
          <p:cNvSpPr>
            <a:spLocks xmlns:a="http://schemas.openxmlformats.org/drawingml/2006/main" noGrp="1"/>
          </p:cNvSpPr>
          <p:nvPr/>
        </p:nvSpPr>
        <p:spPr>
          <a:xfrm xmlns:a="http://schemas.openxmlformats.org/drawingml/2006/main">
            <a:off x="657225" y="2076450"/>
            <a:ext cx="1524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6975" b="0">
                <a:solidFill>
                  <a:srgbClr val="EF8B58"/>
                </a:solidFill>
                <a:latin typeface="Georgia"/>
                <a:ea typeface="Georgia"/>
                <a:cs typeface="Georgia"/>
              </a:defRPr>
            </a:pPr>
            <a:r>
              <a:rPr sz="6975" b="0">
                <a:solidFill>
                  <a:srgbClr val="EF8B58"/>
                </a:solidFill>
                <a:latin typeface="Georgia"/>
                <a:ea typeface="Georgia"/>
                <a:cs typeface="Georgia"/>
              </a:rPr>
              <a:t>46</a:t>
            </a:r>
          </a:p>
        </p:txBody>
      </p:sp>
      <p:sp>
        <p:nvSpPr>
          <p:cNvPr id="6" name="">
            <a:extLst xmlns:a="http://schemas.openxmlformats.org/drawingml/2006/main">
              <a:ext uri="{FF2B5EF4-FFF2-40B4-BE49-F238E27FC236}">
                <a16:creationId xmlns:a16="http://schemas.microsoft.com/office/drawing/2014/main" id="{3A45138E-5646-4B87-B10D-3269FAE56474}"/>
              </a:ext>
            </a:extLst>
          </p:cNvPr>
          <p:cNvSpPr>
            <a:spLocks xmlns:a="http://schemas.openxmlformats.org/drawingml/2006/main" noGrp="1"/>
          </p:cNvSpPr>
          <p:nvPr/>
        </p:nvSpPr>
        <p:spPr>
          <a:xfrm xmlns:a="http://schemas.openxmlformats.org/drawingml/2006/main">
            <a:off x="2352675" y="2124075"/>
            <a:ext cx="809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625" b="1">
                <a:solidFill>
                  <a:srgbClr val="132A39"/>
                </a:solidFill>
                <a:latin typeface="Arial"/>
                <a:ea typeface="Arial"/>
                <a:cs typeface="Arial"/>
              </a:defRPr>
            </a:pPr>
            <a:r>
              <a:rPr sz="2625" b="1">
                <a:solidFill>
                  <a:srgbClr val="132A39"/>
                </a:solidFill>
                <a:latin typeface="Arial"/>
                <a:ea typeface="Arial"/>
                <a:cs typeface="Arial"/>
              </a:rPr>
              <a:t>Pine Avenue apartments</a:t>
            </a:r>
          </a:p>
        </p:txBody>
      </p:sp>
      <p:sp>
        <p:nvSpPr>
          <p:cNvPr id="7" name="">
            <a:extLst xmlns:a="http://schemas.openxmlformats.org/drawingml/2006/main">
              <a:ext uri="{FF2B5EF4-FFF2-40B4-BE49-F238E27FC236}">
                <a16:creationId xmlns:a16="http://schemas.microsoft.com/office/drawing/2014/main" id="{D86237A5-A2B4-44AD-B526-80446AE06571}"/>
              </a:ext>
            </a:extLst>
          </p:cNvPr>
          <p:cNvSpPr>
            <a:spLocks xmlns:a="http://schemas.openxmlformats.org/drawingml/2006/main" noGrp="1"/>
          </p:cNvSpPr>
          <p:nvPr/>
        </p:nvSpPr>
        <p:spPr>
          <a:xfrm xmlns:a="http://schemas.openxmlformats.org/drawingml/2006/main">
            <a:off x="2352675" y="2686050"/>
            <a:ext cx="8096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526775"/>
                </a:solidFill>
                <a:latin typeface="Arial"/>
                <a:ea typeface="Arial"/>
                <a:cs typeface="Arial"/>
              </a:defRPr>
            </a:pPr>
            <a:r>
              <a:rPr sz="1725" b="0">
                <a:solidFill>
                  <a:srgbClr val="526775"/>
                </a:solidFill>
                <a:latin typeface="Arial"/>
                <a:ea typeface="Arial"/>
                <a:cs typeface="Arial"/>
              </a:rPr>
              <a:t>Medical support  ·  Right now</a:t>
            </a:r>
          </a:p>
        </p:txBody>
      </p:sp>
      <p:sp>
        <p:nvSpPr>
          <p:cNvPr id="8" name="">
            <a:extLst xmlns:a="http://schemas.openxmlformats.org/drawingml/2006/main">
              <a:ext uri="{FF2B5EF4-FFF2-40B4-BE49-F238E27FC236}">
                <a16:creationId xmlns:a16="http://schemas.microsoft.com/office/drawing/2014/main" id="{07029FEC-99E8-4059-B2A6-F4A3014102FC}"/>
              </a:ext>
            </a:extLst>
          </p:cNvPr>
          <p:cNvSpPr>
            <a:spLocks xmlns:a="http://schemas.openxmlformats.org/drawingml/2006/main" noGrp="1"/>
          </p:cNvSpPr>
          <p:nvPr/>
        </p:nvSpPr>
        <p:spPr>
          <a:xfrm xmlns:a="http://schemas.openxmlformats.org/drawingml/2006/main">
            <a:off x="2352675" y="3162300"/>
            <a:ext cx="904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1">
                <a:solidFill>
                  <a:srgbClr val="006C69"/>
                </a:solidFill>
                <a:latin typeface="Arial"/>
                <a:ea typeface="Arial"/>
                <a:cs typeface="Arial"/>
              </a:defRPr>
            </a:pPr>
            <a:r>
              <a:rPr sz="1425" b="1">
                <a:solidFill>
                  <a:srgbClr val="006C69"/>
                </a:solidFill>
                <a:latin typeface="Arial"/>
                <a:ea typeface="Arial"/>
                <a:cs typeface="Arial"/>
              </a:rPr>
              <a:t>URGENCY  +30     ESSENTIAL NEED  +10     ACCESS BARRIER  +6</a:t>
            </a:r>
          </a:p>
        </p:txBody>
      </p:sp>
      <p:sp>
        <p:nvSpPr>
          <p:cNvPr id="9" name="">
            <a:extLst xmlns:a="http://schemas.openxmlformats.org/drawingml/2006/main">
              <a:ext uri="{FF2B5EF4-FFF2-40B4-BE49-F238E27FC236}">
                <a16:creationId xmlns:a16="http://schemas.microsoft.com/office/drawing/2014/main" id="{7DECB46E-5715-4146-83A0-D9B06A7AB411}"/>
              </a:ext>
            </a:extLst>
          </p:cNvPr>
          <p:cNvSpPr>
            <a:spLocks xmlns:a="http://schemas.openxmlformats.org/drawingml/2006/main" noGrp="1"/>
          </p:cNvSpPr>
          <p:nvPr/>
        </p:nvSpPr>
        <p:spPr>
          <a:xfrm xmlns:a="http://schemas.openxmlformats.org/drawingml/2006/main">
            <a:off x="2352675" y="36385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1">
                <a:solidFill>
                  <a:srgbClr val="006C69"/>
                </a:solidFill>
                <a:latin typeface="Arial"/>
                <a:ea typeface="Arial"/>
                <a:cs typeface="Arial"/>
              </a:defRPr>
            </a:pPr>
            <a:r>
              <a:rPr sz="1425" b="1">
                <a:solidFill>
                  <a:srgbClr val="006C69"/>
                </a:solidFill>
                <a:latin typeface="Arial"/>
                <a:ea typeface="Arial"/>
                <a:cs typeface="Arial"/>
              </a:rPr>
              <a:t>Suggested resource: medical backup-power team  ·  1 available</a:t>
            </a:r>
          </a:p>
        </p:txBody>
      </p:sp>
      <p:sp>
        <p:nvSpPr>
          <p:cNvPr id="10" name="">
            <a:extLst xmlns:a="http://schemas.openxmlformats.org/drawingml/2006/main">
              <a:ext uri="{FF2B5EF4-FFF2-40B4-BE49-F238E27FC236}">
                <a16:creationId xmlns:a16="http://schemas.microsoft.com/office/drawing/2014/main" id="{10A7888F-1B23-41E9-8FCD-52A28314594C}"/>
              </a:ext>
            </a:extLst>
          </p:cNvPr>
          <p:cNvSpPr>
            <a:spLocks xmlns:a="http://schemas.openxmlformats.org/drawingml/2006/main" noGrp="1"/>
          </p:cNvSpPr>
          <p:nvPr/>
        </p:nvSpPr>
        <p:spPr>
          <a:xfrm xmlns:a="http://schemas.openxmlformats.org/drawingml/2006/main">
            <a:off x="666750" y="4219575"/>
            <a:ext cx="10763250" cy="19050"/>
          </a:xfrm>
          <a:prstGeom xmlns:a="http://schemas.openxmlformats.org/drawingml/2006/main" prst="rect">
            <a:avLst/>
          </a:prstGeom>
          <a:solidFill xmlns:a="http://schemas.openxmlformats.org/drawingml/2006/main">
            <a:srgbClr val="CAD6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5DBEFF1-258A-473B-B7B6-33031A09275C}"/>
              </a:ext>
            </a:extLst>
          </p:cNvPr>
          <p:cNvSpPr>
            <a:spLocks xmlns:a="http://schemas.openxmlformats.org/drawingml/2006/main" noGrp="1"/>
          </p:cNvSpPr>
          <p:nvPr/>
        </p:nvSpPr>
        <p:spPr>
          <a:xfrm xmlns:a="http://schemas.openxmlformats.org/drawingml/2006/main">
            <a:off x="657225" y="4352925"/>
            <a:ext cx="1524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6975" b="0">
                <a:solidFill>
                  <a:srgbClr val="006C69"/>
                </a:solidFill>
                <a:latin typeface="Georgia"/>
                <a:ea typeface="Georgia"/>
                <a:cs typeface="Georgia"/>
              </a:defRPr>
            </a:pPr>
            <a:r>
              <a:rPr sz="6975" b="0">
                <a:solidFill>
                  <a:srgbClr val="006C69"/>
                </a:solidFill>
                <a:latin typeface="Georgia"/>
                <a:ea typeface="Georgia"/>
                <a:cs typeface="Georgia"/>
              </a:rPr>
              <a:t>26</a:t>
            </a:r>
          </a:p>
        </p:txBody>
      </p:sp>
      <p:sp>
        <p:nvSpPr>
          <p:cNvPr id="12" name="">
            <a:extLst xmlns:a="http://schemas.openxmlformats.org/drawingml/2006/main">
              <a:ext uri="{FF2B5EF4-FFF2-40B4-BE49-F238E27FC236}">
                <a16:creationId xmlns:a16="http://schemas.microsoft.com/office/drawing/2014/main" id="{5957B343-584E-4369-BDF3-4F7700109CC9}"/>
              </a:ext>
            </a:extLst>
          </p:cNvPr>
          <p:cNvSpPr>
            <a:spLocks xmlns:a="http://schemas.openxmlformats.org/drawingml/2006/main" noGrp="1"/>
          </p:cNvSpPr>
          <p:nvPr/>
        </p:nvSpPr>
        <p:spPr>
          <a:xfrm xmlns:a="http://schemas.openxmlformats.org/drawingml/2006/main">
            <a:off x="2352675" y="4419600"/>
            <a:ext cx="809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625" b="1">
                <a:solidFill>
                  <a:srgbClr val="132A39"/>
                </a:solidFill>
                <a:latin typeface="Arial"/>
                <a:ea typeface="Arial"/>
                <a:cs typeface="Arial"/>
              </a:defRPr>
            </a:pPr>
            <a:r>
              <a:rPr sz="2625" b="1">
                <a:solidFill>
                  <a:srgbClr val="132A39"/>
                </a:solidFill>
                <a:latin typeface="Arial"/>
                <a:ea typeface="Arial"/>
                <a:cs typeface="Arial"/>
              </a:rPr>
              <a:t>North library</a:t>
            </a:r>
          </a:p>
        </p:txBody>
      </p:sp>
      <p:sp>
        <p:nvSpPr>
          <p:cNvPr id="13" name="">
            <a:extLst xmlns:a="http://schemas.openxmlformats.org/drawingml/2006/main">
              <a:ext uri="{FF2B5EF4-FFF2-40B4-BE49-F238E27FC236}">
                <a16:creationId xmlns:a16="http://schemas.microsoft.com/office/drawing/2014/main" id="{27EBB93D-E8AD-498D-BB04-18E5F57B9F9F}"/>
              </a:ext>
            </a:extLst>
          </p:cNvPr>
          <p:cNvSpPr>
            <a:spLocks xmlns:a="http://schemas.openxmlformats.org/drawingml/2006/main" noGrp="1"/>
          </p:cNvSpPr>
          <p:nvPr/>
        </p:nvSpPr>
        <p:spPr>
          <a:xfrm xmlns:a="http://schemas.openxmlformats.org/drawingml/2006/main">
            <a:off x="2352675" y="4981575"/>
            <a:ext cx="8096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526775"/>
                </a:solidFill>
                <a:latin typeface="Arial"/>
                <a:ea typeface="Arial"/>
                <a:cs typeface="Arial"/>
              </a:defRPr>
            </a:pPr>
            <a:r>
              <a:rPr sz="1725" b="0">
                <a:solidFill>
                  <a:srgbClr val="526775"/>
                </a:solidFill>
                <a:latin typeface="Arial"/>
                <a:ea typeface="Arial"/>
                <a:cs typeface="Arial"/>
              </a:rPr>
              <a:t>Water / food  ·  Within a few hours</a:t>
            </a:r>
          </a:p>
        </p:txBody>
      </p:sp>
      <p:sp>
        <p:nvSpPr>
          <p:cNvPr id="14" name="">
            <a:extLst xmlns:a="http://schemas.openxmlformats.org/drawingml/2006/main">
              <a:ext uri="{FF2B5EF4-FFF2-40B4-BE49-F238E27FC236}">
                <a16:creationId xmlns:a16="http://schemas.microsoft.com/office/drawing/2014/main" id="{8ABDF6BE-8F87-4CAC-8F03-86444218CB34}"/>
              </a:ext>
            </a:extLst>
          </p:cNvPr>
          <p:cNvSpPr>
            <a:spLocks xmlns:a="http://schemas.openxmlformats.org/drawingml/2006/main" noGrp="1"/>
          </p:cNvSpPr>
          <p:nvPr/>
        </p:nvSpPr>
        <p:spPr>
          <a:xfrm xmlns:a="http://schemas.openxmlformats.org/drawingml/2006/main">
            <a:off x="2352675" y="5476875"/>
            <a:ext cx="904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1">
                <a:solidFill>
                  <a:srgbClr val="006C69"/>
                </a:solidFill>
                <a:latin typeface="Arial"/>
                <a:ea typeface="Arial"/>
                <a:cs typeface="Arial"/>
              </a:defRPr>
            </a:pPr>
            <a:r>
              <a:rPr sz="1425" b="1">
                <a:solidFill>
                  <a:srgbClr val="006C69"/>
                </a:solidFill>
                <a:latin typeface="Arial"/>
                <a:ea typeface="Arial"/>
                <a:cs typeface="Arial"/>
              </a:rPr>
              <a:t>URGENCY  +20     COMMUNICATION BARRIER  +6</a:t>
            </a:r>
          </a:p>
        </p:txBody>
      </p:sp>
    </p:spTree>
    <p:extLst>
      <p:ext uri="{BB962C8B-B14F-4D97-AF65-F5344CB8AC3E}">
        <p14:creationId xmlns:p14="http://schemas.microsoft.com/office/powerpoint/2010/main" val="1490076371"/>
      </p:ext>
    </p:extLst>
  </p:cSld>
</p:sld>
</file>

<file path=ppt/slides/slide6.xml><?xml version="1.0" encoding="utf-8"?>
<p:sld xmlns:p="http://schemas.openxmlformats.org/presentationml/2006/main">
  <p:cSld>
    <p:bg>
      <p:bgPr>
        <a:solidFill xmlns:a="http://schemas.openxmlformats.org/drawingml/2006/main">
          <a:srgbClr val="091F31"/>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D8AF954-9553-43C9-9740-BF51C27A7390}"/>
              </a:ext>
            </a:extLst>
          </p:cNvPr>
          <p:cNvSpPr>
            <a:spLocks xmlns:a="http://schemas.openxmlformats.org/drawingml/2006/main" noGrp="1"/>
          </p:cNvSpPr>
          <p:nvPr/>
        </p:nvSpPr>
        <p:spPr>
          <a:xfrm xmlns:a="http://schemas.openxmlformats.org/drawingml/2006/main">
            <a:off x="628650" y="400050"/>
            <a:ext cx="10096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200" b="1">
                <a:solidFill>
                  <a:srgbClr val="BCE6D9"/>
                </a:solidFill>
                <a:latin typeface="Arial"/>
                <a:ea typeface="Arial"/>
                <a:cs typeface="Arial"/>
              </a:defRPr>
            </a:pPr>
            <a:r>
              <a:rPr sz="1200" b="1">
                <a:solidFill>
                  <a:srgbClr val="BCE6D9"/>
                </a:solidFill>
                <a:latin typeface="Arial"/>
                <a:ea typeface="Arial"/>
                <a:cs typeface="Arial"/>
              </a:rPr>
              <a:t>READYROUTE  /  IMPACT AND NEXT STEPS</a:t>
            </a:r>
          </a:p>
        </p:txBody>
      </p:sp>
      <p:sp>
        <p:nvSpPr>
          <p:cNvPr id="2" name="">
            <a:extLst xmlns:a="http://schemas.openxmlformats.org/drawingml/2006/main">
              <a:ext uri="{FF2B5EF4-FFF2-40B4-BE49-F238E27FC236}">
                <a16:creationId xmlns:a16="http://schemas.microsoft.com/office/drawing/2014/main" id="{24B7ADCD-32DD-4522-A9C4-6CB32C418DEA}"/>
              </a:ext>
            </a:extLst>
          </p:cNvPr>
          <p:cNvSpPr>
            <a:spLocks xmlns:a="http://schemas.openxmlformats.org/drawingml/2006/main" noGrp="1"/>
          </p:cNvSpPr>
          <p:nvPr/>
        </p:nvSpPr>
        <p:spPr>
          <a:xfrm xmlns:a="http://schemas.openxmlformats.org/drawingml/2006/main">
            <a:off x="628650" y="90487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3600" b="0">
                <a:solidFill>
                  <a:srgbClr val="FFFFFF"/>
                </a:solidFill>
                <a:latin typeface="Georgia"/>
                <a:ea typeface="Georgia"/>
                <a:cs typeface="Georgia"/>
              </a:defRPr>
            </a:pPr>
            <a:r>
              <a:rPr sz="3600" b="0">
                <a:solidFill>
                  <a:srgbClr val="FFFFFF"/>
                </a:solidFill>
                <a:latin typeface="Georgia"/>
                <a:ea typeface="Georgia"/>
                <a:cs typeface="Georgia"/>
              </a:rPr>
              <a:t>A prototype with a clear path to testing</a:t>
            </a:r>
          </a:p>
        </p:txBody>
      </p:sp>
      <p:sp>
        <p:nvSpPr>
          <p:cNvPr id="3" name="">
            <a:extLst xmlns:a="http://schemas.openxmlformats.org/drawingml/2006/main">
              <a:ext uri="{FF2B5EF4-FFF2-40B4-BE49-F238E27FC236}">
                <a16:creationId xmlns:a16="http://schemas.microsoft.com/office/drawing/2014/main" id="{B0B20199-4799-4B20-8F66-4D06E6D03ACE}"/>
              </a:ext>
            </a:extLst>
          </p:cNvPr>
          <p:cNvSpPr>
            <a:spLocks xmlns:a="http://schemas.openxmlformats.org/drawingml/2006/main" noGrp="1"/>
          </p:cNvSpPr>
          <p:nvPr/>
        </p:nvSpPr>
        <p:spPr>
          <a:xfrm xmlns:a="http://schemas.openxmlformats.org/drawingml/2006/main">
            <a:off x="628650" y="6334125"/>
            <a:ext cx="10934700" cy="19050"/>
          </a:xfrm>
          <a:prstGeom xmlns:a="http://schemas.openxmlformats.org/drawingml/2006/main" prst="rect">
            <a:avLst/>
          </a:prstGeom>
          <a:solidFill xmlns:a="http://schemas.openxmlformats.org/drawingml/2006/main">
            <a:srgbClr val="54747B"/>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0610135-0FC8-456A-8267-A569430AC14A}"/>
              </a:ext>
            </a:extLst>
          </p:cNvPr>
          <p:cNvSpPr>
            <a:spLocks xmlns:a="http://schemas.openxmlformats.org/drawingml/2006/main" noGrp="1"/>
          </p:cNvSpPr>
          <p:nvPr/>
        </p:nvSpPr>
        <p:spPr>
          <a:xfrm xmlns:a="http://schemas.openxmlformats.org/drawingml/2006/main">
            <a:off x="10477500" y="6410325"/>
            <a:ext cx="1095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125" b="1">
                <a:solidFill>
                  <a:srgbClr val="BCE6D9"/>
                </a:solidFill>
                <a:latin typeface="Arial"/>
                <a:ea typeface="Arial"/>
                <a:cs typeface="Arial"/>
              </a:defRPr>
            </a:pPr>
            <a:r>
              <a:rPr sz="1125" b="1">
                <a:solidFill>
                  <a:srgbClr val="BCE6D9"/>
                </a:solidFill>
                <a:latin typeface="Arial"/>
                <a:ea typeface="Arial"/>
                <a:cs typeface="Arial"/>
              </a:rPr>
              <a:t>06 / 06</a:t>
            </a:r>
          </a:p>
        </p:txBody>
      </p:sp>
      <p:sp>
        <p:nvSpPr>
          <p:cNvPr id="5" name="">
            <a:extLst xmlns:a="http://schemas.openxmlformats.org/drawingml/2006/main">
              <a:ext uri="{FF2B5EF4-FFF2-40B4-BE49-F238E27FC236}">
                <a16:creationId xmlns:a16="http://schemas.microsoft.com/office/drawing/2014/main" id="{5D3051A9-E604-4B5E-B487-65DF2620575A}"/>
              </a:ext>
            </a:extLst>
          </p:cNvPr>
          <p:cNvSpPr>
            <a:spLocks xmlns:a="http://schemas.openxmlformats.org/drawingml/2006/main" noGrp="1"/>
          </p:cNvSpPr>
          <p:nvPr/>
        </p:nvSpPr>
        <p:spPr>
          <a:xfrm xmlns:a="http://schemas.openxmlformats.org/drawingml/2006/main">
            <a:off x="666750" y="2085975"/>
            <a:ext cx="3181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75" b="0">
                <a:solidFill>
                  <a:srgbClr val="BCE6D9"/>
                </a:solidFill>
                <a:latin typeface="Georgia"/>
                <a:ea typeface="Georgia"/>
                <a:cs typeface="Georgia"/>
              </a:defRPr>
            </a:pPr>
            <a:r>
              <a:rPr sz="2775" b="0">
                <a:solidFill>
                  <a:srgbClr val="BCE6D9"/>
                </a:solidFill>
                <a:latin typeface="Georgia"/>
                <a:ea typeface="Georgia"/>
                <a:cs typeface="Georgia"/>
              </a:rPr>
              <a:t>Faster</a:t>
            </a:r>
          </a:p>
        </p:txBody>
      </p:sp>
      <p:sp>
        <p:nvSpPr>
          <p:cNvPr id="6" name="">
            <a:extLst xmlns:a="http://schemas.openxmlformats.org/drawingml/2006/main">
              <a:ext uri="{FF2B5EF4-FFF2-40B4-BE49-F238E27FC236}">
                <a16:creationId xmlns:a16="http://schemas.microsoft.com/office/drawing/2014/main" id="{08CF3375-A127-4652-AC80-66A8A6BD5B32}"/>
              </a:ext>
            </a:extLst>
          </p:cNvPr>
          <p:cNvSpPr>
            <a:spLocks xmlns:a="http://schemas.openxmlformats.org/drawingml/2006/main" noGrp="1"/>
          </p:cNvSpPr>
          <p:nvPr/>
        </p:nvSpPr>
        <p:spPr>
          <a:xfrm xmlns:a="http://schemas.openxmlformats.org/drawingml/2006/main">
            <a:off x="666750" y="2714625"/>
            <a:ext cx="3048000" cy="28575"/>
          </a:xfrm>
          <a:prstGeom xmlns:a="http://schemas.openxmlformats.org/drawingml/2006/main" prst="rect">
            <a:avLst/>
          </a:prstGeom>
          <a:solidFill xmlns:a="http://schemas.openxmlformats.org/drawingml/2006/main">
            <a:srgbClr val="EF8B58"/>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5640F17-57A3-41E5-A657-E465E324DE04}"/>
              </a:ext>
            </a:extLst>
          </p:cNvPr>
          <p:cNvSpPr>
            <a:spLocks xmlns:a="http://schemas.openxmlformats.org/drawingml/2006/main" noGrp="1"/>
          </p:cNvSpPr>
          <p:nvPr/>
        </p:nvSpPr>
        <p:spPr>
          <a:xfrm xmlns:a="http://schemas.openxmlformats.org/drawingml/2006/main">
            <a:off x="666750" y="2914650"/>
            <a:ext cx="30765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A short form creates</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a structured request.</a:t>
            </a:r>
          </a:p>
        </p:txBody>
      </p:sp>
      <p:sp>
        <p:nvSpPr>
          <p:cNvPr id="8" name="">
            <a:extLst xmlns:a="http://schemas.openxmlformats.org/drawingml/2006/main">
              <a:ext uri="{FF2B5EF4-FFF2-40B4-BE49-F238E27FC236}">
                <a16:creationId xmlns:a16="http://schemas.microsoft.com/office/drawing/2014/main" id="{C7E03F9E-784F-41C7-A658-2579F8581D3F}"/>
              </a:ext>
            </a:extLst>
          </p:cNvPr>
          <p:cNvSpPr>
            <a:spLocks xmlns:a="http://schemas.openxmlformats.org/drawingml/2006/main" noGrp="1"/>
          </p:cNvSpPr>
          <p:nvPr/>
        </p:nvSpPr>
        <p:spPr>
          <a:xfrm xmlns:a="http://schemas.openxmlformats.org/drawingml/2006/main">
            <a:off x="4429125" y="2085975"/>
            <a:ext cx="3181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75" b="0">
                <a:solidFill>
                  <a:srgbClr val="BCE6D9"/>
                </a:solidFill>
                <a:latin typeface="Georgia"/>
                <a:ea typeface="Georgia"/>
                <a:cs typeface="Georgia"/>
              </a:defRPr>
            </a:pPr>
            <a:r>
              <a:rPr sz="2775" b="0">
                <a:solidFill>
                  <a:srgbClr val="BCE6D9"/>
                </a:solidFill>
                <a:latin typeface="Georgia"/>
                <a:ea typeface="Georgia"/>
                <a:cs typeface="Georgia"/>
              </a:rPr>
              <a:t>Clearer</a:t>
            </a:r>
          </a:p>
        </p:txBody>
      </p:sp>
      <p:sp>
        <p:nvSpPr>
          <p:cNvPr id="9" name="">
            <a:extLst xmlns:a="http://schemas.openxmlformats.org/drawingml/2006/main">
              <a:ext uri="{FF2B5EF4-FFF2-40B4-BE49-F238E27FC236}">
                <a16:creationId xmlns:a16="http://schemas.microsoft.com/office/drawing/2014/main" id="{369E2308-0EA7-4420-A890-6722553AD862}"/>
              </a:ext>
            </a:extLst>
          </p:cNvPr>
          <p:cNvSpPr>
            <a:spLocks xmlns:a="http://schemas.openxmlformats.org/drawingml/2006/main" noGrp="1"/>
          </p:cNvSpPr>
          <p:nvPr/>
        </p:nvSpPr>
        <p:spPr>
          <a:xfrm xmlns:a="http://schemas.openxmlformats.org/drawingml/2006/main">
            <a:off x="4429125" y="2714625"/>
            <a:ext cx="3048000" cy="28575"/>
          </a:xfrm>
          <a:prstGeom xmlns:a="http://schemas.openxmlformats.org/drawingml/2006/main" prst="rect">
            <a:avLst/>
          </a:prstGeom>
          <a:solidFill xmlns:a="http://schemas.openxmlformats.org/drawingml/2006/main">
            <a:srgbClr val="EF8B58"/>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BBC8DB4-BF14-4F34-9D35-33097743B10D}"/>
              </a:ext>
            </a:extLst>
          </p:cNvPr>
          <p:cNvSpPr>
            <a:spLocks xmlns:a="http://schemas.openxmlformats.org/drawingml/2006/main" noGrp="1"/>
          </p:cNvSpPr>
          <p:nvPr/>
        </p:nvSpPr>
        <p:spPr>
          <a:xfrm xmlns:a="http://schemas.openxmlformats.org/drawingml/2006/main">
            <a:off x="4429125" y="2914650"/>
            <a:ext cx="30765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Every position has</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visible reasons.</a:t>
            </a:r>
          </a:p>
        </p:txBody>
      </p:sp>
      <p:sp>
        <p:nvSpPr>
          <p:cNvPr id="11" name="">
            <a:extLst xmlns:a="http://schemas.openxmlformats.org/drawingml/2006/main">
              <a:ext uri="{FF2B5EF4-FFF2-40B4-BE49-F238E27FC236}">
                <a16:creationId xmlns:a16="http://schemas.microsoft.com/office/drawing/2014/main" id="{186F826D-C33A-463C-B623-EDF7378A1007}"/>
              </a:ext>
            </a:extLst>
          </p:cNvPr>
          <p:cNvSpPr>
            <a:spLocks xmlns:a="http://schemas.openxmlformats.org/drawingml/2006/main" noGrp="1"/>
          </p:cNvSpPr>
          <p:nvPr/>
        </p:nvSpPr>
        <p:spPr>
          <a:xfrm xmlns:a="http://schemas.openxmlformats.org/drawingml/2006/main">
            <a:off x="8181975" y="2085975"/>
            <a:ext cx="3181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775" b="0">
                <a:solidFill>
                  <a:srgbClr val="BCE6D9"/>
                </a:solidFill>
                <a:latin typeface="Georgia"/>
                <a:ea typeface="Georgia"/>
                <a:cs typeface="Georgia"/>
              </a:defRPr>
            </a:pPr>
            <a:r>
              <a:rPr sz="2775" b="0">
                <a:solidFill>
                  <a:srgbClr val="BCE6D9"/>
                </a:solidFill>
                <a:latin typeface="Georgia"/>
                <a:ea typeface="Georgia"/>
                <a:cs typeface="Georgia"/>
              </a:rPr>
              <a:t>Fairer</a:t>
            </a:r>
          </a:p>
        </p:txBody>
      </p:sp>
      <p:sp>
        <p:nvSpPr>
          <p:cNvPr id="12" name="">
            <a:extLst xmlns:a="http://schemas.openxmlformats.org/drawingml/2006/main">
              <a:ext uri="{FF2B5EF4-FFF2-40B4-BE49-F238E27FC236}">
                <a16:creationId xmlns:a16="http://schemas.microsoft.com/office/drawing/2014/main" id="{DF9B21EA-6724-40D5-A18C-E3E46DE7C8A7}"/>
              </a:ext>
            </a:extLst>
          </p:cNvPr>
          <p:cNvSpPr>
            <a:spLocks xmlns:a="http://schemas.openxmlformats.org/drawingml/2006/main" noGrp="1"/>
          </p:cNvSpPr>
          <p:nvPr/>
        </p:nvSpPr>
        <p:spPr>
          <a:xfrm xmlns:a="http://schemas.openxmlformats.org/drawingml/2006/main">
            <a:off x="8181975" y="2714625"/>
            <a:ext cx="3048000" cy="28575"/>
          </a:xfrm>
          <a:prstGeom xmlns:a="http://schemas.openxmlformats.org/drawingml/2006/main" prst="rect">
            <a:avLst/>
          </a:prstGeom>
          <a:solidFill xmlns:a="http://schemas.openxmlformats.org/drawingml/2006/main">
            <a:srgbClr val="EF8B58"/>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2319C16-6126-4F32-BD9C-F5328070FACB}"/>
              </a:ext>
            </a:extLst>
          </p:cNvPr>
          <p:cNvSpPr>
            <a:spLocks xmlns:a="http://schemas.openxmlformats.org/drawingml/2006/main" noGrp="1"/>
          </p:cNvSpPr>
          <p:nvPr/>
        </p:nvSpPr>
        <p:spPr>
          <a:xfrm xmlns:a="http://schemas.openxmlformats.org/drawingml/2006/main">
            <a:off x="8181975" y="2914650"/>
            <a:ext cx="30765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Resource matches consider</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access barriers.</a:t>
            </a:r>
          </a:p>
        </p:txBody>
      </p:sp>
      <p:sp>
        <p:nvSpPr>
          <p:cNvPr id="14" name="">
            <a:extLst xmlns:a="http://schemas.openxmlformats.org/drawingml/2006/main">
              <a:ext uri="{FF2B5EF4-FFF2-40B4-BE49-F238E27FC236}">
                <a16:creationId xmlns:a16="http://schemas.microsoft.com/office/drawing/2014/main" id="{C851246F-C461-45EA-873F-6906F397ADE0}"/>
              </a:ext>
            </a:extLst>
          </p:cNvPr>
          <p:cNvSpPr>
            <a:spLocks xmlns:a="http://schemas.openxmlformats.org/drawingml/2006/main" noGrp="1"/>
          </p:cNvSpPr>
          <p:nvPr/>
        </p:nvSpPr>
        <p:spPr>
          <a:xfrm xmlns:a="http://schemas.openxmlformats.org/drawingml/2006/main">
            <a:off x="666750" y="4543425"/>
            <a:ext cx="10668000" cy="9525"/>
          </a:xfrm>
          <a:prstGeom xmlns:a="http://schemas.openxmlformats.org/drawingml/2006/main" prst="rect">
            <a:avLst/>
          </a:prstGeom>
          <a:solidFill xmlns:a="http://schemas.openxmlformats.org/drawingml/2006/main">
            <a:srgbClr val="55737B"/>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D1ACA1D-D844-4F68-B1F0-A1DEE61C31D1}"/>
              </a:ext>
            </a:extLst>
          </p:cNvPr>
          <p:cNvSpPr>
            <a:spLocks xmlns:a="http://schemas.openxmlformats.org/drawingml/2006/main" noGrp="1"/>
          </p:cNvSpPr>
          <p:nvPr/>
        </p:nvSpPr>
        <p:spPr>
          <a:xfrm xmlns:a="http://schemas.openxmlformats.org/drawingml/2006/main">
            <a:off x="666750" y="4733925"/>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2175" b="1">
                <a:solidFill>
                  <a:srgbClr val="FFFFFF"/>
                </a:solidFill>
                <a:latin typeface="Arial"/>
                <a:ea typeface="Arial"/>
                <a:cs typeface="Arial"/>
              </a:defRPr>
            </a:pPr>
            <a:r>
              <a:rPr sz="2175" b="1">
                <a:solidFill>
                  <a:srgbClr val="FFFFFF"/>
                </a:solidFill>
                <a:latin typeface="Arial"/>
                <a:ea typeface="Arial"/>
                <a:cs typeface="Arial"/>
              </a:rPr>
              <a:t>A real pilot would require</a:t>
            </a:r>
          </a:p>
        </p:txBody>
      </p:sp>
      <p:sp>
        <p:nvSpPr>
          <p:cNvPr id="16" name="">
            <a:extLst xmlns:a="http://schemas.openxmlformats.org/drawingml/2006/main">
              <a:ext uri="{FF2B5EF4-FFF2-40B4-BE49-F238E27FC236}">
                <a16:creationId xmlns:a16="http://schemas.microsoft.com/office/drawing/2014/main" id="{563D62BF-8ACA-43A3-9F5D-C0EB46CBFC5A}"/>
              </a:ext>
            </a:extLst>
          </p:cNvPr>
          <p:cNvSpPr>
            <a:spLocks xmlns:a="http://schemas.openxmlformats.org/drawingml/2006/main" noGrp="1"/>
          </p:cNvSpPr>
          <p:nvPr/>
        </p:nvSpPr>
        <p:spPr>
          <a:xfrm xmlns:a="http://schemas.openxmlformats.org/drawingml/2006/main">
            <a:off x="666750" y="521970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725" b="0">
                <a:solidFill>
                  <a:srgbClr val="D3E4E2"/>
                </a:solidFill>
                <a:latin typeface="Arial"/>
                <a:ea typeface="Arial"/>
                <a:cs typeface="Arial"/>
              </a:defRPr>
            </a:pPr>
            <a:r>
              <a:rPr sz="1725" b="0">
                <a:solidFill>
                  <a:srgbClr val="D3E4E2"/>
                </a:solidFill>
                <a:latin typeface="Arial"/>
                <a:ea typeface="Arial"/>
                <a:cs typeface="Arial"/>
              </a:rPr>
              <a:t>official data · secure sync · consent · accessibility testing · emergency-management partners</a:t>
            </a:r>
          </a:p>
        </p:txBody>
      </p:sp>
      <p:sp>
        <p:nvSpPr>
          <p:cNvPr id="17" name="">
            <a:extLst xmlns:a="http://schemas.openxmlformats.org/drawingml/2006/main">
              <a:ext uri="{FF2B5EF4-FFF2-40B4-BE49-F238E27FC236}">
                <a16:creationId xmlns:a16="http://schemas.microsoft.com/office/drawing/2014/main" id="{ECE9752D-4DB9-44C5-919B-9D3BE0FCF809}"/>
              </a:ext>
            </a:extLst>
          </p:cNvPr>
          <p:cNvSpPr>
            <a:spLocks xmlns:a="http://schemas.openxmlformats.org/drawingml/2006/main" noGrp="1"/>
          </p:cNvSpPr>
          <p:nvPr/>
        </p:nvSpPr>
        <p:spPr>
          <a:xfrm xmlns:a="http://schemas.openxmlformats.org/drawingml/2006/main">
            <a:off x="666750" y="5724525"/>
            <a:ext cx="1057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defRPr sz="1425" b="1">
                <a:solidFill>
                  <a:srgbClr val="BCE6D9"/>
                </a:solidFill>
                <a:latin typeface="Arial"/>
                <a:ea typeface="Arial"/>
                <a:cs typeface="Arial"/>
              </a:defRPr>
            </a:pPr>
            <a:r>
              <a:rPr sz="1425" b="1">
                <a:solidFill>
                  <a:srgbClr val="BCE6D9"/>
                </a:solidFill>
                <a:latin typeface="Arial"/>
                <a:ea typeface="Arial"/>
                <a:cs typeface="Arial"/>
              </a:rPr>
              <a:t>Pilot measures: intake time · match coverage · accessible completion</a:t>
            </a:r>
          </a:p>
        </p:txBody>
      </p:sp>
    </p:spTree>
    <p:extLst>
      <p:ext uri="{BB962C8B-B14F-4D97-AF65-F5344CB8AC3E}">
        <p14:creationId xmlns:p14="http://schemas.microsoft.com/office/powerpoint/2010/main" val="7148789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2026-09-30T04:36:57.4530000Z</dcterms:created>
  <dcterms:modified xsi:type="dcterms:W3CDTF">2026-09-30T04:36:57.4530000Z</dcterms:modified>
</coreProperties>
</file>