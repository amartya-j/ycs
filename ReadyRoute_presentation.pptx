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d7b05abb784c90" /><Relationship Type="http://schemas.openxmlformats.org/officeDocument/2006/relationships/extended-properties" Target="/docProps/app.xml" Id="Rbba332281126404a" /><Relationship Type="http://schemas.openxmlformats.org/officeDocument/2006/relationships/officeDocument" Target="/ppt/presentation.xml" Id="R4e90933279cf48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f57a84c9924944"/>
  </p:sldMasterIdLst>
  <p:notesMasterIdLst>
    <p:notesMasterId xmlns:r="http://schemas.openxmlformats.org/officeDocument/2006/relationships" r:id="R43c7bc1ccdd942d4"/>
  </p:notesMasterIdLst>
  <p:sldIdLst>
    <p:sldId xmlns:r="http://schemas.openxmlformats.org/officeDocument/2006/relationships" id="256" r:id="Ra3d60ca3a5714197"/>
    <p:sldId xmlns:r="http://schemas.openxmlformats.org/officeDocument/2006/relationships" id="257" r:id="R373606511c074889"/>
    <p:sldId xmlns:r="http://schemas.openxmlformats.org/officeDocument/2006/relationships" id="258" r:id="Rba47863401954ab8"/>
    <p:sldId xmlns:r="http://schemas.openxmlformats.org/officeDocument/2006/relationships" id="259" r:id="Ree61d07e88b641c9"/>
    <p:sldId xmlns:r="http://schemas.openxmlformats.org/officeDocument/2006/relationships" id="260" r:id="R6123af9dfc194c9a"/>
    <p:sldId xmlns:r="http://schemas.openxmlformats.org/officeDocument/2006/relationships" id="261" r:id="Re79a702f84ca42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db52e543fa4c52" /><Relationship Type="http://schemas.openxmlformats.org/officeDocument/2006/relationships/slideMaster" Target="/ppt/slideMasters/slideMaster1.xml" Id="R82f57a84c9924944" /><Relationship Type="http://schemas.openxmlformats.org/officeDocument/2006/relationships/notesMaster" Target="/ppt/notesMasters/notesMaster1.xml" Id="R43c7bc1ccdd942d4" /><Relationship Type="http://schemas.openxmlformats.org/officeDocument/2006/relationships/presProps" Target="/ppt/presProps.xml" Id="Rde08a5f61e5143f4" /><Relationship Type="http://schemas.openxmlformats.org/officeDocument/2006/relationships/tableStyles" Target="/ppt/tableStyles.xml" Id="Rb5666878bb6d409c" /><Relationship Type="http://schemas.openxmlformats.org/officeDocument/2006/relationships/slide" Target="/ppt/slides/slide1.xml" Id="Ra3d60ca3a5714197" /><Relationship Type="http://schemas.openxmlformats.org/officeDocument/2006/relationships/slide" Target="/ppt/slides/slide2.xml" Id="R373606511c074889" /><Relationship Type="http://schemas.openxmlformats.org/officeDocument/2006/relationships/slide" Target="/ppt/slides/slide3.xml" Id="Rba47863401954ab8" /><Relationship Type="http://schemas.openxmlformats.org/officeDocument/2006/relationships/slide" Target="/ppt/slides/slide4.xml" Id="Ree61d07e88b641c9" /><Relationship Type="http://schemas.openxmlformats.org/officeDocument/2006/relationships/slide" Target="/ppt/slides/slide5.xml" Id="R6123af9dfc194c9a" /><Relationship Type="http://schemas.openxmlformats.org/officeDocument/2006/relationships/slide" Target="/ppt/slides/slide6.xml" Id="Re79a702f84ca42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e3f8ff4aa140d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dafaf437a7c470f" /><Relationship Type="http://schemas.openxmlformats.org/officeDocument/2006/relationships/notesMaster" Target="/ppt/notesMasters/notesMaster1.xml" Id="R77f1f6bf88674d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6efce3780c431d" /><Relationship Type="http://schemas.openxmlformats.org/officeDocument/2006/relationships/notesMaster" Target="/ppt/notesMasters/notesMaster1.xml" Id="Rdd5d3585301649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3d4eefe8bf4068" /><Relationship Type="http://schemas.openxmlformats.org/officeDocument/2006/relationships/notesMaster" Target="/ppt/notesMasters/notesMaster1.xml" Id="R3af591666bdd4e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c9d62fcb584d35" /><Relationship Type="http://schemas.openxmlformats.org/officeDocument/2006/relationships/notesMaster" Target="/ppt/notesMasters/notesMaster1.xml" Id="Rb054cf2de36143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44c25c28854b19" /><Relationship Type="http://schemas.openxmlformats.org/officeDocument/2006/relationships/notesMaster" Target="/ppt/notesMasters/notesMaster1.xml" Id="R8de9dc8b89f94c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cf8ddee9b64c13" /><Relationship Type="http://schemas.openxmlformats.org/officeDocument/2006/relationships/notesMaster" Target="/ppt/notesMasters/notesMaster1.xml" Id="Rb1a6fffcdf6a40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ReadyRoute is an offline prototype for the emergency preparedness prompt. The illustrated image is generated concept art, not a real emergency scene. The app has a household plan, need-report form, and transparent response queue.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Ready.gov encourages household emergency plans. FEMA guidance calls for concise, understandable, accessible communication. These principles motivated the prototype. Sources: https://www.ready.gov/ ; https://www.fema.gov/sites/default/files/documents/fema_guide-community-engagement.pdf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three views are implemented in a single HTML file. A request can be carried manually to another device as a compact code with a typo check. The code contains a location and is not encrypted. There is no account, server, alert feed, automatic sync, or dispatch integration.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Demonstration with fictional data: enter the Rivera household contact, meeting place, and backup transport in My plan. Save the plan locally, print it, or delete it. The interface has a text-size toggle and a partial Spanish option.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Pine Avenue example is fictional. It scores 30 for immediate urgency, 10 for medical need, and 6 for a power access barrier. The planner reserves available slots across the queue and uses a general team before a specialist when possible. It suggests the backup-power team here. The North library example scores 26. Waiting can add points, so live scores can change. This formula is illustrative, unvalidated, and never dispatches help automatically.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project has no measured real-world impact. Manual relay may help where devices cannot sync, but depends on trusted handoff and is not encrypted. A pilot should measure intake time, match coverage, relay success, and accessible completion. Real deployment needs official sources, secure synchronization, consent, multilingual and accessibility testing, and trained emergency-management partners. The concept relates to SDG 11 and SDG 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2aacb19493488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cfa2d5427f4f08" /><Relationship Type="http://schemas.openxmlformats.org/officeDocument/2006/relationships/slideLayout" Target="/ppt/slideLayouts/slideLayout1.xml" Id="Rea3f6ca8374d47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3f6ca8374d47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41a1163004f99" /><Relationship Type="http://schemas.openxmlformats.org/officeDocument/2006/relationships/image" Target="/ppt/media/image.jpeg" Id="Re6bebae11d654cbd" /><Relationship Type="http://schemas.openxmlformats.org/officeDocument/2006/relationships/notesSlide" Target="/ppt/notesSlides/notesSlide1.xml" Id="R68632c0303754b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7ae2683a04d8a" /><Relationship Type="http://schemas.openxmlformats.org/officeDocument/2006/relationships/notesSlide" Target="/ppt/notesSlides/notesSlide2.xml" Id="Rb5c78725ba7d44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4e3dd1bb9c4dd0" /><Relationship Type="http://schemas.openxmlformats.org/officeDocument/2006/relationships/notesSlide" Target="/ppt/notesSlides/notesSlide3.xml" Id="Rea01a94e01d04b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ce7a870584343" /><Relationship Type="http://schemas.openxmlformats.org/officeDocument/2006/relationships/notesSlide" Target="/ppt/notesSlides/notesSlide4.xml" Id="Rb28c2344e37c4df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c2dccc61649ba" /><Relationship Type="http://schemas.openxmlformats.org/officeDocument/2006/relationships/notesSlide" Target="/ppt/notesSlides/notesSlide5.xml" Id="R4e6e758864454e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79571b3b9421e" /><Relationship Type="http://schemas.openxmlformats.org/officeDocument/2006/relationships/notesSlide" Target="/ppt/notesSlides/notesSlide6.xml" Id="R27d8e9e8b64c46d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1F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bebae11d654cb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B50236-F2A9-4350-9F55-2B92C4FF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"/>
            <a:ext cx="619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CE6D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CE6D9"/>
                </a:solidFill>
                <a:latin typeface="Arial"/>
                <a:ea typeface="Arial"/>
                <a:cs typeface="Arial"/>
              </a:rPr>
              <a:t>READYROUTE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EA9EE7-5D1C-455D-A76B-5AFACC68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68580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5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57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 clear plan before.</a:t>
            </a:r>
          </a:p>
          <a:p xmlns:a="http://schemas.openxmlformats.org/drawingml/2006/main">
            <a:pPr>
              <a:defRPr sz="4575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575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 clearer picture during.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2A84E-6E0E-459A-BDDD-951FFF54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05375"/>
            <a:ext cx="466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8B58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63DA89-37B5-445D-9E4C-18596F3D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6191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Emergency preparedness and transparent response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3C5D6-FD4E-499D-BC7E-197D34FC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579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CE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CE6D9"/>
                </a:solidFill>
                <a:latin typeface="Arial"/>
                <a:ea typeface="Arial"/>
                <a:cs typeface="Arial"/>
              </a:rPr>
              <a:t>WORKING PROTOTYPE  ·  EDUCATIONAL SIMULATION</a:t>
            </a:r>
          </a:p>
        </p:txBody>
      </p:sp>
    </p:spTree>
    <p:extLst>
      <p:ext uri="{BB962C8B-B14F-4D97-AF65-F5344CB8AC3E}">
        <p14:creationId xmlns:p14="http://schemas.microsoft.com/office/powerpoint/2010/main" val="591422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7D40B-B582-4AF8-8BFF-EC449D5B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09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6C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6C69"/>
                </a:solidFill>
                <a:latin typeface="Arial"/>
                <a:ea typeface="Arial"/>
                <a:cs typeface="Arial"/>
              </a:rPr>
              <a:t>READYROUTE  /  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6BB933-FB56-4A10-B4F4-B4A5F019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048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132A39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132A39"/>
                </a:solidFill>
                <a:latin typeface="Georgia"/>
                <a:ea typeface="Georgia"/>
                <a:cs typeface="Georgia"/>
              </a:rPr>
              <a:t>A shared picture is hard to build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326B24-1212-4101-A498-49ACF50B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34125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EDFCC-7983-45EA-8826-AFD00701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0325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26775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E5DDC8-08AB-4078-B984-74DE5F3D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333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550" b="0">
                <a:solidFill>
                  <a:srgbClr val="EF8B58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EF8B5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93551A-A1F8-45E8-8EF0-AF446C9F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162175"/>
            <a:ext cx="8667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32A3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2A39"/>
                </a:solidFill>
                <a:latin typeface="Arial"/>
                <a:ea typeface="Arial"/>
                <a:cs typeface="Arial"/>
              </a:rPr>
              <a:t>Households need a plan they can find quickly.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954172-97F7-45DC-9E18-A4B0A253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048000"/>
            <a:ext cx="852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8E6F9-9FCB-4754-8952-45216AC3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14700"/>
            <a:ext cx="1333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550" b="0">
                <a:solidFill>
                  <a:srgbClr val="EF8B58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EF8B5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743209-4C37-4E8F-B08C-090012699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71850"/>
            <a:ext cx="9239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32A3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2A39"/>
                </a:solidFill>
                <a:latin typeface="Arial"/>
                <a:ea typeface="Arial"/>
                <a:cs typeface="Arial"/>
              </a:rPr>
              <a:t>Responders need requests that are clear and comparable.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5A6CF4-1396-4BE9-A0C4-D15A1B08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33875"/>
            <a:ext cx="85248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CB3440-AB65-40E3-8A6D-7C468931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0"/>
            <a:ext cx="1333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5550" b="0">
                <a:solidFill>
                  <a:srgbClr val="EF8B58"/>
                </a:solidFill>
                <a:latin typeface="Georgia"/>
                <a:ea typeface="Georgia"/>
                <a:cs typeface="Georgia"/>
              </a:defRPr>
            </a:pPr>
            <a:r>
              <a:rPr sz="5550" b="0">
                <a:solidFill>
                  <a:srgbClr val="EF8B5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A2998-0CCF-4C18-A8C9-F0D9061E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48200"/>
            <a:ext cx="895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32A3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32A39"/>
                </a:solidFill>
                <a:latin typeface="Arial"/>
                <a:ea typeface="Arial"/>
                <a:cs typeface="Arial"/>
              </a:rPr>
              <a:t>Access barriers must be visible during review.</a:t>
            </a:r>
          </a:p>
        </p:txBody>
      </p:sp>
    </p:spTree>
    <p:extLst>
      <p:ext uri="{BB962C8B-B14F-4D97-AF65-F5344CB8AC3E}">
        <p14:creationId xmlns:p14="http://schemas.microsoft.com/office/powerpoint/2010/main" val="6521003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1F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DA9AD2-B627-4A7F-BFC4-F13DB87A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09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CE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CE6D9"/>
                </a:solidFill>
                <a:latin typeface="Arial"/>
                <a:ea typeface="Arial"/>
                <a:cs typeface="Arial"/>
              </a:rPr>
              <a:t>READYROUTE  /  THE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74CBAB-70DF-4949-8CBD-1ABE5F89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048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One simple flow, three useful views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DA474-FD1F-4AAB-BFF9-222C4631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34125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4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347041-CE6F-4DD1-BEC3-91EB9A13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0325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CE6D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CE6D9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49F5B4-B8FE-48A9-8C99-16EB3D98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14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650" b="0">
                <a:solidFill>
                  <a:srgbClr val="EF8B58"/>
                </a:solidFill>
                <a:latin typeface="Georgia"/>
                <a:ea typeface="Georgia"/>
                <a:cs typeface="Georgia"/>
              </a:defRPr>
            </a:pPr>
            <a:r>
              <a:rPr sz="4650" b="0">
                <a:solidFill>
                  <a:srgbClr val="EF8B58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DE068-146B-47F3-9C96-B38F7B92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266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498C75-AF05-453C-995A-7D8F4C1A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143125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7E6E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7E6E4"/>
                </a:solidFill>
                <a:latin typeface="Arial"/>
                <a:ea typeface="Arial"/>
                <a:cs typeface="Arial"/>
              </a:rPr>
              <a:t>Save a contact, meeting place, backup route, and access needs.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18023B-BE58-48AC-A687-BF544FE2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038475"/>
            <a:ext cx="9096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667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7DA0E-42F5-43EF-83ED-A40207CE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114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650" b="0">
                <a:solidFill>
                  <a:srgbClr val="EF8B58"/>
                </a:solidFill>
                <a:latin typeface="Georgia"/>
                <a:ea typeface="Georgia"/>
                <a:cs typeface="Georgia"/>
              </a:defRPr>
            </a:pPr>
            <a:r>
              <a:rPr sz="4650" b="0">
                <a:solidFill>
                  <a:srgbClr val="EF8B58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523984-4E6D-4BA9-936C-5A6704FC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90900"/>
            <a:ext cx="266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Report + relay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D4D54-E796-48D3-9766-B55CFFCD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438525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7E6E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7E6E4"/>
                </a:solidFill>
                <a:latin typeface="Arial"/>
                <a:ea typeface="Arial"/>
                <a:cs typeface="Arial"/>
              </a:rPr>
              <a:t>Create a report; carry a short code between devices.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4ED159-5076-4AE2-9229-30D43D713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33875"/>
            <a:ext cx="9096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667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D796BE-E637-4F29-9D41-814AF06C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114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4650" b="0">
                <a:solidFill>
                  <a:srgbClr val="EF8B58"/>
                </a:solidFill>
                <a:latin typeface="Georgia"/>
                <a:ea typeface="Georgia"/>
                <a:cs typeface="Georgia"/>
              </a:defRPr>
            </a:pPr>
            <a:r>
              <a:rPr sz="4650" b="0">
                <a:solidFill>
                  <a:srgbClr val="EF8B58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4AB495-8FA1-49FD-919B-20C4E961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86300"/>
            <a:ext cx="2667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F98EBD-8E9C-4DC9-BDD4-D7458F63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33925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7E6E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7E6E4"/>
                </a:solidFill>
                <a:latin typeface="Arial"/>
                <a:ea typeface="Arial"/>
                <a:cs typeface="Arial"/>
              </a:rPr>
              <a:t>See explained priorities, reserved matches, and manual assignment.</a:t>
            </a:r>
          </a:p>
        </p:txBody>
      </p:sp>
    </p:spTree>
    <p:extLst>
      <p:ext uri="{BB962C8B-B14F-4D97-AF65-F5344CB8AC3E}">
        <p14:creationId xmlns:p14="http://schemas.microsoft.com/office/powerpoint/2010/main" val="6640652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28A85C-253C-4353-92BD-2BC589E4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09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6C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6C69"/>
                </a:solidFill>
                <a:latin typeface="Arial"/>
                <a:ea typeface="Arial"/>
                <a:cs typeface="Arial"/>
              </a:rPr>
              <a:t>READYROUTE  / 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CEB31A-D061-4622-93F2-4F3A70EB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048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132A39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132A39"/>
                </a:solidFill>
                <a:latin typeface="Georgia"/>
                <a:ea typeface="Georgia"/>
                <a:cs typeface="Georgia"/>
              </a:rPr>
              <a:t>A household makes a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53DB99-06E2-4ABE-B49A-A9E76D1C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34125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35BBF-A703-4A92-A135-DCDF88B6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0325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26775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9F28B-EA2E-4FFA-B0E9-A97EC76A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0097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6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6C69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42D11-3C37-413D-953F-7BC4C377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334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132A39"/>
                </a:solidFill>
                <a:latin typeface="Georgia"/>
                <a:ea typeface="Georgia"/>
                <a:cs typeface="Georgia"/>
              </a:defRPr>
            </a:pPr>
            <a:r>
              <a:rPr sz="2925" b="0">
                <a:solidFill>
                  <a:srgbClr val="132A39"/>
                </a:solidFill>
                <a:latin typeface="Georgia"/>
                <a:ea typeface="Georgia"/>
                <a:cs typeface="Georgia"/>
              </a:rPr>
              <a:t>Rivera household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FA031D-5405-4CBC-A509-686D09F1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5200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0E427-BE21-4F9D-9BDC-6EBD87EC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2575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26775"/>
                </a:solidFill>
                <a:latin typeface="Arial"/>
                <a:ea typeface="Arial"/>
                <a:cs typeface="Arial"/>
              </a:rPr>
              <a:t>Out-of-area contact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0F5C57-C817-46BA-90C4-DEDF7982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552825"/>
            <a:ext cx="447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32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A39"/>
                </a:solidFill>
                <a:latin typeface="Arial"/>
                <a:ea typeface="Arial"/>
                <a:cs typeface="Arial"/>
              </a:rPr>
              <a:t>Elena · 555-0142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D0D0B2-32B1-402D-8A67-E40C8CA5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767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26775"/>
                </a:solidFill>
                <a:latin typeface="Arial"/>
                <a:ea typeface="Arial"/>
                <a:cs typeface="Arial"/>
              </a:rPr>
              <a:t>Meeting 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8D8EB8-22B8-4C34-945C-293288CA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371975"/>
            <a:ext cx="447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32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A39"/>
                </a:solidFill>
                <a:latin typeface="Arial"/>
                <a:ea typeface="Arial"/>
                <a:cs typeface="Arial"/>
              </a:rPr>
              <a:t>North library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73B127-83A9-450B-909C-0035B593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0537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26775"/>
                </a:solidFill>
                <a:latin typeface="Arial"/>
                <a:ea typeface="Arial"/>
                <a:cs typeface="Arial"/>
              </a:rPr>
              <a:t>Backup transport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99B8AE-1224-4173-B27D-D289776B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200650"/>
            <a:ext cx="447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32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32A39"/>
                </a:solidFill>
                <a:latin typeface="Arial"/>
                <a:ea typeface="Arial"/>
                <a:cs typeface="Arial"/>
              </a:rPr>
              <a:t>Accessible van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F329F6-0BAC-4CF0-861E-986816C8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47875"/>
            <a:ext cx="5305425" cy="3743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274558-19DF-4B0A-9006-35AA58F9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47875"/>
            <a:ext cx="53054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C6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483BEF-4A38-4EEA-BA19-941BB52F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371725"/>
            <a:ext cx="4381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6C6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6C69"/>
                </a:solidFill>
                <a:latin typeface="Arial"/>
                <a:ea typeface="Arial"/>
                <a:cs typeface="Arial"/>
              </a:rPr>
              <a:t>SAVED 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69A873-1EEB-4CCB-BE0F-FFC0AF97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895600"/>
            <a:ext cx="4524375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091F31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091F31"/>
                </a:solidFill>
                <a:latin typeface="Georgia"/>
                <a:ea typeface="Georgia"/>
                <a:cs typeface="Georgia"/>
              </a:rPr>
              <a:t>One page to carry</a:t>
            </a:r>
          </a:p>
          <a:p xmlns:a="http://schemas.openxmlformats.org/drawingml/2006/main">
            <a:pPr>
              <a:defRPr sz="3225" b="0">
                <a:solidFill>
                  <a:srgbClr val="091F31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091F31"/>
                </a:solidFill>
                <a:latin typeface="Georgia"/>
                <a:ea typeface="Georgia"/>
                <a:cs typeface="Georgia"/>
              </a:rPr>
              <a:t>or share.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95140A-687D-4648-B0F1-56F58142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724400"/>
            <a:ext cx="457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5"/>
                </a:solidFill>
                <a:latin typeface="Arial"/>
                <a:ea typeface="Arial"/>
                <a:cs typeface="Arial"/>
              </a:rPr>
              <a:t>Local storage  ·  Print  ·  Delete</a:t>
            </a:r>
          </a:p>
        </p:txBody>
      </p:sp>
    </p:spTree>
    <p:extLst>
      <p:ext uri="{BB962C8B-B14F-4D97-AF65-F5344CB8AC3E}">
        <p14:creationId xmlns:p14="http://schemas.microsoft.com/office/powerpoint/2010/main" val="6290811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1E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C35BC9-F428-4532-8F45-44C2077C8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09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6C6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6C69"/>
                </a:solidFill>
                <a:latin typeface="Arial"/>
                <a:ea typeface="Arial"/>
                <a:cs typeface="Arial"/>
              </a:rPr>
              <a:t>READYROUTE  / 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17CB9-F5A7-452D-BEA9-96D298D3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048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132A39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132A39"/>
                </a:solidFill>
                <a:latin typeface="Georgia"/>
                <a:ea typeface="Georgia"/>
                <a:cs typeface="Georgia"/>
              </a:rPr>
              <a:t>The queue shows the reason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C4506-44F2-4514-BD6E-FB1D4138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34125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5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BF1DF-80F6-4297-8E15-21DF7147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0325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26775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1BE58-AF8A-457B-8330-CFD88B40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076450"/>
            <a:ext cx="1524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6975" b="0">
                <a:solidFill>
                  <a:srgbClr val="EF8B58"/>
                </a:solidFill>
                <a:latin typeface="Georgia"/>
                <a:ea typeface="Georgia"/>
                <a:cs typeface="Georgia"/>
              </a:defRPr>
            </a:pPr>
            <a:r>
              <a:rPr sz="6975" b="0">
                <a:solidFill>
                  <a:srgbClr val="EF8B58"/>
                </a:solidFill>
                <a:latin typeface="Georgia"/>
                <a:ea typeface="Georgia"/>
                <a:cs typeface="Georgia"/>
              </a:rPr>
              <a:t>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04F419-3C5F-42E0-847A-CFE90A5B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124075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32A39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32A39"/>
                </a:solidFill>
                <a:latin typeface="Arial"/>
                <a:ea typeface="Arial"/>
                <a:cs typeface="Arial"/>
              </a:rPr>
              <a:t>Pine Avenue apartments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E2E04-7913-49A5-99B4-B14FBCBC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2686050"/>
            <a:ext cx="8096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5"/>
                </a:solidFill>
                <a:latin typeface="Arial"/>
                <a:ea typeface="Arial"/>
                <a:cs typeface="Arial"/>
              </a:rPr>
              <a:t>Medical support  ·  Right 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F77E2-8DDD-4C14-9869-D94E2286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16230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6C6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6C69"/>
                </a:solidFill>
                <a:latin typeface="Arial"/>
                <a:ea typeface="Arial"/>
                <a:cs typeface="Arial"/>
              </a:rPr>
              <a:t>URGENCY  +30     ESSENTIAL NEED  +10     ACCESS BARRIER  +6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7E0CA-F9CC-458D-8DB3-E8E071B5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638550"/>
            <a:ext cx="885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6C6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6C69"/>
                </a:solidFill>
                <a:latin typeface="Arial"/>
                <a:ea typeface="Arial"/>
                <a:cs typeface="Arial"/>
              </a:rPr>
              <a:t>Reserved suggestion: medical backup-power team  ·  1 available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36C35-DDD9-4C7F-BF8C-DB04FFC0B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9575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6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327CB1-1CCB-45B7-83A1-CD44AF54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352925"/>
            <a:ext cx="1524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6975" b="0">
                <a:solidFill>
                  <a:srgbClr val="006C69"/>
                </a:solidFill>
                <a:latin typeface="Georgia"/>
                <a:ea typeface="Georgia"/>
                <a:cs typeface="Georgia"/>
              </a:defRPr>
            </a:pPr>
            <a:r>
              <a:rPr sz="6975" b="0">
                <a:solidFill>
                  <a:srgbClr val="006C69"/>
                </a:solidFill>
                <a:latin typeface="Georgia"/>
                <a:ea typeface="Georgia"/>
                <a:cs typeface="Georgia"/>
              </a:rPr>
              <a:t>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082ED5-A617-4DA4-8559-77FA27E9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419600"/>
            <a:ext cx="8096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132A39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32A39"/>
                </a:solidFill>
                <a:latin typeface="Arial"/>
                <a:ea typeface="Arial"/>
                <a:cs typeface="Arial"/>
              </a:rPr>
              <a:t>North library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F70814-63BD-4600-8887-FED7DF9E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981575"/>
            <a:ext cx="8096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5"/>
                </a:solidFill>
                <a:latin typeface="Arial"/>
                <a:ea typeface="Arial"/>
                <a:cs typeface="Arial"/>
              </a:rPr>
              <a:t>Water / food  ·  Within a few hours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1FAFFD-2A87-427C-A24D-8FF51F66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5476875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6C6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6C69"/>
                </a:solidFill>
                <a:latin typeface="Arial"/>
                <a:ea typeface="Arial"/>
                <a:cs typeface="Arial"/>
              </a:rPr>
              <a:t>URGENCY  +20     COMMUNICATION BARRIER  +6</a:t>
            </a:r>
          </a:p>
        </p:txBody>
      </p:sp>
    </p:spTree>
    <p:extLst>
      <p:ext uri="{BB962C8B-B14F-4D97-AF65-F5344CB8AC3E}">
        <p14:creationId xmlns:p14="http://schemas.microsoft.com/office/powerpoint/2010/main" val="20463357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1F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768EE-3FE0-4394-8980-5F3AA697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096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BCE6D9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BCE6D9"/>
                </a:solidFill>
                <a:latin typeface="Arial"/>
                <a:ea typeface="Arial"/>
                <a:cs typeface="Arial"/>
              </a:rPr>
              <a:t>READYROUTE  /  IMPACT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00FD6-ECC1-4D9C-96E5-0131DD62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04875"/>
            <a:ext cx="10858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360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60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 prototype with a clear path to testing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1D1D16-8B27-4ADC-B2A4-EFC4FE20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34125"/>
            <a:ext cx="10934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4747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D61CFA-1C04-4B07-8882-0DA08DB4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10325"/>
            <a:ext cx="1095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BCE6D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CE6D9"/>
                </a:solidFill>
                <a:latin typeface="Arial"/>
                <a:ea typeface="Arial"/>
                <a:cs typeface="Arial"/>
              </a:rPr>
              <a:t>06 / 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F9504-7644-4562-BEB2-4DB15753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85975"/>
            <a:ext cx="3181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BCE6D9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BCE6D9"/>
                </a:solidFill>
                <a:latin typeface="Georgia"/>
                <a:ea typeface="Georgia"/>
                <a:cs typeface="Georgia"/>
              </a:rPr>
              <a:t>Faster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59105-5909-46B6-9C10-F64A33E3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8B5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C2230-9C27-4955-B5A5-3B6F173B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14650"/>
            <a:ext cx="30765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short form and relay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code carry key facts.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3763E-7606-49D9-850D-8CC2FFDD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85975"/>
            <a:ext cx="3181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BCE6D9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BCE6D9"/>
                </a:solidFill>
                <a:latin typeface="Georgia"/>
                <a:ea typeface="Georgia"/>
                <a:cs typeface="Georgia"/>
              </a:rPr>
              <a:t>Clearer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E9945B-902C-4C11-89AE-CB4588F5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14625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8B5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0EEAA0-DDFD-4C25-9340-BAFC09BA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14650"/>
            <a:ext cx="30765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position has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visible reasons.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D1D6D1-EE7A-4CA2-B656-80C37B28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85975"/>
            <a:ext cx="3181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BCE6D9"/>
                </a:solidFill>
                <a:latin typeface="Georgia"/>
                <a:ea typeface="Georgia"/>
                <a:cs typeface="Georgia"/>
              </a:defRPr>
            </a:pPr>
            <a:r>
              <a:rPr sz="2775" b="0">
                <a:solidFill>
                  <a:srgbClr val="BCE6D9"/>
                </a:solidFill>
                <a:latin typeface="Georgia"/>
                <a:ea typeface="Georgia"/>
                <a:cs typeface="Georgia"/>
              </a:rPr>
              <a:t>Fairer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702EEE-D658-4EE8-8497-41B69C28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714625"/>
            <a:ext cx="3048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8B58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D67264-5618-49F3-8CB0-772CCACF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914650"/>
            <a:ext cx="30765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Reservations protect</a:t>
            </a:r>
          </a:p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scarce specialist support.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BE0B10-BF82-4C2B-BDF1-AEFB766C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737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C64A6E-EAA1-4B83-B31A-B1876CB2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339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real pilot would require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429414-D891-4647-8425-1B791345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3E4E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D3E4E2"/>
                </a:solidFill>
                <a:latin typeface="Arial"/>
                <a:ea typeface="Arial"/>
                <a:cs typeface="Arial"/>
              </a:rPr>
              <a:t>official data · secure sync · consent · accessibility testing · emergency-management partners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37A10B-A42B-4B32-9964-235BDB8F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24525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CE6D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CE6D9"/>
                </a:solidFill>
                <a:latin typeface="Arial"/>
                <a:ea typeface="Arial"/>
                <a:cs typeface="Arial"/>
              </a:rPr>
              <a:t>Pilot measures: intake time · match coverage · accessible completion</a:t>
            </a:r>
          </a:p>
        </p:txBody>
      </p:sp>
    </p:spTree>
    <p:extLst>
      <p:ext uri="{BB962C8B-B14F-4D97-AF65-F5344CB8AC3E}">
        <p14:creationId xmlns:p14="http://schemas.microsoft.com/office/powerpoint/2010/main" val="35573825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2026-09-30T04:50:49.0570000Z</dcterms:created>
  <dcterms:modified xsi:type="dcterms:W3CDTF">2026-09-30T04:50:49.0570000Z</dcterms:modified>
</coreProperties>
</file>